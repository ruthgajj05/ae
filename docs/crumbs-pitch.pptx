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0e6fcf63-65f5-d46b-9923-8d958702204e}">
          <p14:sldIdLst>
            <p14:sldId id="256"/>
            <p14:sldId id="257"/>
          </p14:sldIdLst>
        </p14:section>
        <p14:section name="Product" id="{46b68d5a-b842-76e7-86b0-072e25fca7e6}">
          <p14:sldIdLst>
            <p14:sldId id="258"/>
            <p14:sldId id="259"/>
            <p14:sldId id="260"/>
            <p14:sldId id="261"/>
          </p14:sldIdLst>
        </p14:section>
        <p14:section name="Build" id="{1b183447-f10d-1c24-b407-7290a33bad21}">
          <p14:sldIdLst>
            <p14:sldId id="262"/>
            <p14:sldId id="263"/>
          </p14:sldIdLst>
        </p14:section>
        <p14:section name="Close" id="{fb53c390-18fe-0316-64f8-ddc3a7dc40ff}">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Owners</c:v>
                </c:pt>
              </c:strCache>
            </c:strRef>
          </c:tx>
          <c:spPr>
            <a:solidFill>
              <a:srgbClr val="E5A83A"/>
            </a:solidFill>
            <a:effectLst/>
          </c:spPr>
          <c:invertIfNegative val="0"/>
          <c:dLbls>
            <c:numFmt formatCode="#,##0" sourceLinked="0"/>
            <c:txPr>
              <a:bodyPr/>
              <a:lstStyle/>
              <a:p>
                <a:pPr>
                  <a:defRPr b="1" i="0" strike="noStrike" sz="1400" u="none">
                    <a:solidFill>
                      <a:srgbClr val="FFF8E7"/>
                    </a:solidFill>
                    <a:latin typeface="+mn-lt"/>
                  </a:defRPr>
                </a:pPr>
              </a:p>
            </c:txPr>
            <c:showLegendKey val="0"/>
            <c:showVal val="1"/>
            <c:showCatName val="0"/>
            <c:showSerName val="0"/>
            <c:showPercent val="0"/>
            <c:showBubbleSize val="0"/>
            <c:showLeaderLines val="0"/>
          </c:dLbls>
          <c:cat>
            <c:multiLvlStrRef>
              <c:f>Sheet1!$A$2:$A$6</c:f>
              <c:multiLvlStrCache>
                <c:ptCount val="5"/>
                <c:lvl>
                  <c:pt idx="0">
                    <c:v>Marketing &amp; social</c:v>
                  </c:pt>
                  <c:pt idx="1">
                    <c:v>Sales follow-up</c:v>
                  </c:pt>
                  <c:pt idx="2">
                    <c:v>Proposals &amp; docs</c:v>
                  </c:pt>
                  <c:pt idx="3">
                    <c:v>Reporting</c:v>
                  </c:pt>
                  <c:pt idx="4">
                    <c:v>Compliance &amp; permits</c:v>
                  </c:pt>
                </c:lvl>
              </c:multiLvlStrCache>
            </c:multiLvlStrRef>
          </c:cat>
          <c:val>
            <c:numRef>
              <c:f>Sheet1!$B$2:$B$6</c:f>
              <c:numCache>
                <c:formatCode>General</c:formatCode>
                <c:ptCount val="5"/>
                <c:pt idx="0">
                  <c:v>25</c:v>
                </c:pt>
                <c:pt idx="1">
                  <c:v>17</c:v>
                </c:pt>
                <c:pt idx="2">
                  <c:v>11</c:v>
                </c:pt>
                <c:pt idx="3">
                  <c:v>9</c:v>
                </c:pt>
                <c:pt idx="4">
                  <c:v>7</c:v>
                </c:pt>
              </c:numCache>
            </c:numRef>
          </c:val>
        </c:ser>
        <c:dLbls>
          <c:numFmt formatCode="#,##0" sourceLinked="0"/>
          <c:txPr>
            <a:bodyPr/>
            <a:lstStyle/>
            <a:p>
              <a:pPr>
                <a:defRPr b="1" i="0" strike="noStrike" sz="1400" u="none">
                  <a:solidFill>
                    <a:srgbClr val="FFF8E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FFF8E7"/>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c:v>
                </c:pt>
              </c:strCache>
            </c:strRef>
          </c:tx>
          <c:spPr>
            <a:solidFill>
              <a:srgbClr val="7A7262"/>
            </a:solidFill>
            <a:effectLst/>
          </c:spPr>
          <c:invertIfNegative val="0"/>
          <c:dLbls>
            <c:numFmt formatCode="0&quot; s&quot;" sourceLinked="0"/>
            <c:txPr>
              <a:bodyPr/>
              <a:lstStyle/>
              <a:p>
                <a:pPr>
                  <a:defRPr b="1" i="0" strike="noStrike" sz="1800" u="none">
                    <a:solidFill>
                      <a:srgbClr val="FFF8E7"/>
                    </a:solidFill>
                    <a:latin typeface="+mn-lt"/>
                  </a:defRPr>
                </a:pPr>
              </a:p>
            </c:txPr>
            <c:showLegendKey val="0"/>
            <c:showVal val="1"/>
            <c:showCatName val="0"/>
            <c:showSerName val="0"/>
            <c:showPercent val="0"/>
            <c:showBubbleSize val="0"/>
            <c:showLeaderLines val="0"/>
          </c:dLbls>
          <c:dPt>
            <c:idx val="0"/>
            <c:invertIfNegative val="0"/>
            <c:bubble3D val="0"/>
            <c:spPr>
              <a:solidFill>
                <a:srgbClr val="7A7262"/>
              </a:solidFill>
              <a:effectLst/>
            </c:spPr>
          </c:dPt>
          <c:dPt>
            <c:idx val="1"/>
            <c:invertIfNegative val="0"/>
            <c:bubble3D val="0"/>
            <c:spPr>
              <a:solidFill>
                <a:srgbClr val="E5A83A"/>
              </a:solidFill>
              <a:effectLst/>
            </c:spPr>
          </c:dPt>
          <c:cat>
            <c:multiLvlStrRef>
              <c:f>Sheet1!$A$2:$A$3</c:f>
              <c:multiLvlStrCache>
                <c:ptCount val="2"/>
                <c:lvl>
                  <c:pt idx="0">
                    <c:v>Before</c:v>
                  </c:pt>
                  <c:pt idx="1">
                    <c:v>Now</c:v>
                  </c:pt>
                </c:lvl>
              </c:multiLvlStrCache>
            </c:multiLvlStrRef>
          </c:cat>
          <c:val>
            <c:numRef>
              <c:f>Sheet1!$B$2:$B$3</c:f>
              <c:numCache>
                <c:formatCode>General</c:formatCode>
                <c:ptCount val="2"/>
                <c:pt idx="0">
                  <c:v>172</c:v>
                </c:pt>
                <c:pt idx="1">
                  <c:v>40</c:v>
                </c:pt>
              </c:numCache>
            </c:numRef>
          </c:val>
        </c:ser>
        <c:dLbls>
          <c:numFmt formatCode="0&quot; s&quot;" sourceLinked="0"/>
          <c:txPr>
            <a:bodyPr/>
            <a:lstStyle/>
            <a:p>
              <a:pPr>
                <a:defRPr b="1" i="0" strike="noStrike" sz="1800" u="none">
                  <a:solidFill>
                    <a:srgbClr val="FFF8E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FFF8E7"/>
                </a:solidFill>
                <a:latin typeface="+mn-lt"/>
              </a:defRPr>
            </a:pPr>
            <a:endParaRPr lang="en-US"/>
          </a:p>
        </c:txPr>
        <c:crossAx val="2094734552"/>
        <c:crosses val="autoZero"/>
        <c:auto val="1"/>
        <c:lblAlgn val="ctr"/>
        <c:noMultiLvlLbl val="1"/>
      </c:catAx>
      <c:valAx>
        <c:axId val="2094734552"/>
        <c:scaling>
          <c:orientation val="minMax"/>
          <c:max val="2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Hi, we're the crumbs team. Neighborhood food shops feed us every day, but they run on gut feel while chains run on data. crumbs fixes that: one product, two sides. Neighbors get an honest pick for tonight. Owners get to see the neighborhood the way a chain does. (Screens in this deck are the real app, running on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We surveyed 38 Washington business owners through the hackathon. 25 of them said marketing is a top time sink, and 16 worry about data privacy, so they hesitate to hand their data to yet another tool. Zoom out: Washington small-business optimism is 94.5, below the national 98.5. These owners don't need another dashboard to learn. They need answers about the shop down the street.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[0:45-1:20] LIVE DEMO CUE (about 25 seconds): open the app at the map, tap Sushi, show the compare sheet with the crumbs pick, then switch to Home (owner) and tap Rivals. On the neighbor side: choose a food and see nearby spots scored side by side with a walking route. On the owner side: Insights and Rivals show how you stack up and which rivals diners pick over you, with the likely reasons. A pick is an in-app selection, not a confirmed visit. Same data, two audiences. If the demo is flaky, stay on these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[1:20-1:50] Where do the picks come from? Claude reads the reviews and scores each attribute from 0 to 100, one call per spot, from review text only. If nobody mentions something, the score stays blank: no made-up numbers. Waits are the minutes reviewers actually say, and the median is computed in plain code, not by the model. The winner is just the highest average, and ties go to the spot with more reviews read. Nothing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[1:50-2:25] For owners, three things. Rivals: how many diners compared you and picked someone else, and the likely reasons. These are possible factors, not proven causes. Alerts: rival changes come from public research, re-checked by our monitor three times a week, and low-stock alerts come from a Square sandbox connection. Owners are told by app, text or email. And the report email: the full advice, with the action, the evidence and the math for every tip, delivered to the owner's inbox. The owner never has to learn a new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[2:25-3:00] This is what owners actually get: one specific step to test, not a dashboard. This one is from our sample bakery report. The advice: bake more cardamom buns, because they sell out around 8:30 and no nearby rival sells one. Every tip shows the owner's own numbers, the market evidence and the math, with a confidence level. The estimate is about 562 dollars a month in revenue, not profit, and it assumes only half of the extra buns sell. It's sample data and we have not run the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[3:00-3:40] Under the hood: the owner gives a name and an area, and sales if they have them. Instead of one big agent doing everything in sequence, we run one small Claude agent per competitor, up to eight at once, plus one on the owner's own online presence. Then we find product gaps and write tailored advice. That took a full report from about three minutes to under one. A scheduled monitor on GitHub Actions re-checks rivals three times a week and alerts the owner to real changes, through the app, text or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[3:40-4:05] Small shops are right to be careful with AI, and in our survey the top worries were privacy and wrong answers. So: every claim carries its sources. Anything we can't find stays blank and shows up as a caveat, and without sales data we don't make up dollar figures. Picks are stored anonymously. Our emails go to one recipient, are escaped, rate-limited, and have no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[4:05-4:35] Why it matters: Washington has about 696,000 small businesses employing 1.5 million people, and their optimism trails the nation. These shops need every edge. Next is a pilot with local owners. We'll measure research time saved, how many recommendations owners act on, and the outcomes of the experiments they choose. The model we're proposing is a monthly subscription per location, price not set. We're looking for Seattle food-business owners to help shape crumbs.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Built in one day by five of us: Jagger on the front end, Neha on API integration, web scraping with the four-times-faster research, report emails and the pitch deck, Ruthwika on web scraping and connecting the front end to the backend, Boong on scraping, the pitch deck and the business solutions, and Manny on the back end and scaffolding. Everyone tested. It's all open source. Every review leaves crumbs. Thank you, we'd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65960"/>
            <a:ext cx="5669280" cy="1554480"/>
          </a:xfrm>
          <a:prstGeom prst="rect">
            <a:avLst/>
          </a:prstGeom>
          <a:noFill/>
          <a:ln/>
        </p:spPr>
        <p:txBody>
          <a:bodyPr wrap="square" rtlCol="0"/>
          <a:lstStyle>
            <a:lvl1pPr algn="l" indent="0" marL="0">
              <a:buNone/>
              <a:defRPr lang="en-US" sz="9600" b="1" dirty="0">
                <a:solidFill>
                  <a:schemeClr val="accent2"/>
                </a:solidFill>
              </a:defRPr>
            </a:lvl1pPr>
          </a:lstStyle>
          <a:p>
            <a:pPr algn="l" indent="0" marL="0">
              <a:buNone/>
            </a:pPr>
            <a:endParaRPr lang="en-US" sz="9600" dirty="0"/>
          </a:p>
        </p:txBody>
      </p:sp>
      <p:sp>
        <p:nvSpPr>
          <p:cNvPr id="3" name="Text 0"/>
          <p:cNvSpPr/>
          <p:nvPr>
            <p:ph idx="101" type="body" hasCustomPrompt="1"/>
          </p:nvPr>
        </p:nvSpPr>
        <p:spPr>
          <a:xfrm>
            <a:off x="777240" y="3611880"/>
            <a:ext cx="5029200" cy="1371600"/>
          </a:xfrm>
          <a:prstGeom prst="rect">
            <a:avLst/>
          </a:prstGeom>
          <a:noFill/>
          <a:ln/>
        </p:spPr>
        <p:txBody>
          <a:bodyPr wrap="square" rtlCol="0"/>
          <a:lstStyle>
            <a:lvl1pPr indent="0" marL="0">
              <a:buNone/>
              <a:defRPr lang="en-US" sz="2400" dirty="0">
                <a:solidFill>
                  <a:schemeClr val="bg1"/>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1188720"/>
          </a:xfrm>
          <a:prstGeom prst="rect">
            <a:avLst/>
          </a:prstGeom>
          <a:noFill/>
          <a:ln/>
        </p:spPr>
        <p:txBody>
          <a:bodyPr wrap="square" rtlCol="0"/>
          <a:lstStyle>
            <a:lvl1pPr algn="l" indent="0" marL="0">
              <a:buNone/>
              <a:defRPr lang="en-US" sz="6600" b="1" dirty="0">
                <a:solidFill>
                  <a:schemeClr val="accent2"/>
                </a:solidFill>
              </a:defRPr>
            </a:lvl1pPr>
          </a:lstStyle>
          <a:p>
            <a:pPr algn="l" indent="0" marL="0">
              <a:buNone/>
            </a:pPr>
            <a:endParaRPr lang="en-US" sz="6600" dirty="0"/>
          </a:p>
        </p:txBody>
      </p:sp>
      <p:sp>
        <p:nvSpPr>
          <p:cNvPr id="3" name="Text 0"/>
          <p:cNvSpPr/>
          <p:nvPr>
            <p:ph idx="101" type="body" hasCustomPrompt="1"/>
          </p:nvPr>
        </p:nvSpPr>
        <p:spPr>
          <a:xfrm>
            <a:off x="777240" y="1737360"/>
            <a:ext cx="10515600" cy="548640"/>
          </a:xfrm>
          <a:prstGeom prst="rect">
            <a:avLst/>
          </a:prstGeom>
          <a:noFill/>
          <a:ln/>
        </p:spPr>
        <p:txBody>
          <a:bodyPr wrap="square" rtlCol="0"/>
          <a:lstStyle>
            <a:lvl1pPr indent="0" marL="0">
              <a:buNone/>
              <a:defRPr lang="en-US" sz="2200" dirty="0">
                <a:solidFill>
                  <a:schemeClr val="bg1"/>
                </a:solidFill>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txBox="1"/>
          <p:nvPr/>
        </p:nvSpPr>
        <p:spPr>
          <a:xfrm>
            <a:off x="64008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crumbs · Claude Impact Lab, Seattle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txBox="1"/>
          <p:nvPr/>
        </p:nvSpPr>
        <p:spPr>
          <a:xfrm>
            <a:off x="640080" y="6419088"/>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crumbs · Claude Impact Lab, Seattle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tag"/>
          <p:cNvSpPr txBox="1"/>
          <p:nvPr/>
        </p:nvSpPr>
        <p:spPr>
          <a:xfrm>
            <a:off x="777240" y="1371600"/>
            <a:ext cx="3566160" cy="384048"/>
          </a:xfrm>
          <a:prstGeom prst="roundRect">
            <a:avLst>
              <a:gd name="adj" fmla="val 47619"/>
            </a:avLst>
          </a:prstGeom>
          <a:solidFill>
            <a:schemeClr val="accent2"/>
          </a:solidFill>
          <a:ln/>
        </p:spPr>
        <p:txBody>
          <a:bodyPr wrap="square" lIns="0" tIns="0" rIns="0" bIns="0" rtlCol="0" anchor="ctr"/>
          <a:lstStyle/>
          <a:p>
            <a:pPr algn="ctr" indent="0" marL="0">
              <a:buNone/>
            </a:pPr>
            <a:r>
              <a:rPr lang="en-US" sz="1200" b="1" spc="300" kern="0" dirty="0">
                <a:solidFill>
                  <a:schemeClr val="tx1"/>
                </a:solidFill>
              </a:rPr>
              <a:t>CLAUDE IMPACT LAB · SEATTLE</a:t>
            </a:r>
            <a:endParaRPr lang="en-US" sz="1200" dirty="0"/>
          </a:p>
        </p:txBody>
      </p:sp>
      <p:sp>
        <p:nvSpPr>
          <p:cNvPr id="3" name="Text 0"/>
          <p:cNvSpPr/>
          <p:nvPr>
            <p:ph idx="100" type="title" hasCustomPrompt="1"/>
          </p:nvPr>
        </p:nvSpPr>
        <p:spPr>
          <a:xfrm>
            <a:off x="731520" y="1965960"/>
            <a:ext cx="5669280" cy="1554480"/>
          </a:xfrm>
          <a:prstGeom prst="rect">
            <a:avLst/>
          </a:prstGeom>
          <a:noFill/>
          <a:ln/>
        </p:spPr>
        <p:txBody>
          <a:bodyPr wrap="square" lIns="0" tIns="0" rIns="0" bIns="0" rtlCol="0" anchor="ctr"/>
          <a:lstStyle/>
          <a:p>
            <a:pPr algn="l" indent="0" marL="0">
              <a:buNone/>
            </a:pPr>
            <a:r>
              <a:rPr lang="en-US" sz="9600" b="1" dirty="0">
                <a:solidFill>
                  <a:schemeClr val="accent2"/>
                </a:solidFill>
              </a:rPr>
              <a:t>crumbs</a:t>
            </a:r>
            <a:endParaRPr lang="en-US" sz="9600" dirty="0"/>
          </a:p>
        </p:txBody>
      </p:sp>
      <p:sp>
        <p:nvSpPr>
          <p:cNvPr id="4" name="Text 0"/>
          <p:cNvSpPr/>
          <p:nvPr>
            <p:ph idx="101" type="body" hasCustomPrompt="1"/>
          </p:nvPr>
        </p:nvSpPr>
        <p:spPr>
          <a:xfrm>
            <a:off x="777240" y="3611880"/>
            <a:ext cx="5029200" cy="1371600"/>
          </a:xfrm>
          <a:prstGeom prst="rect">
            <a:avLst/>
          </a:prstGeom>
          <a:noFill/>
          <a:ln/>
        </p:spPr>
        <p:txBody>
          <a:bodyPr wrap="square" lIns="0" tIns="0" rIns="0" bIns="0" rtlCol="0" anchor="t"/>
          <a:lstStyle/>
          <a:p>
            <a:pPr indent="0" marL="0">
              <a:buNone/>
            </a:pPr>
            <a:r>
              <a:rPr lang="en-US" sz="2400" dirty="0">
                <a:solidFill>
                  <a:schemeClr val="bg1"/>
                </a:solidFill>
              </a:rPr>
              <a:t>AI for neighborhood food shops, and the neighbors who love them.</a:t>
            </a:r>
            <a:endParaRPr lang="en-US" sz="2400" dirty="0"/>
          </a:p>
        </p:txBody>
      </p:sp>
      <p:sp>
        <p:nvSpPr>
          <p:cNvPr id="5" name="Crumb 1"/>
          <p:cNvSpPr/>
          <p:nvPr/>
        </p:nvSpPr>
        <p:spPr>
          <a:xfrm>
            <a:off x="822960" y="5715000"/>
            <a:ext cx="164592" cy="164592"/>
          </a:xfrm>
          <a:prstGeom prst="ellipse">
            <a:avLst/>
          </a:prstGeom>
          <a:solidFill>
            <a:schemeClr val="accent1">
              <a:alpha val="70000"/>
            </a:schemeClr>
          </a:solidFill>
          <a:ln/>
        </p:spPr>
      </p:sp>
      <p:sp>
        <p:nvSpPr>
          <p:cNvPr id="6" name="Crumb 2"/>
          <p:cNvSpPr/>
          <p:nvPr/>
        </p:nvSpPr>
        <p:spPr>
          <a:xfrm>
            <a:off x="1280160" y="6035040"/>
            <a:ext cx="109728" cy="109728"/>
          </a:xfrm>
          <a:prstGeom prst="ellipse">
            <a:avLst/>
          </a:prstGeom>
          <a:solidFill>
            <a:schemeClr val="accent1">
              <a:alpha val="45000"/>
            </a:schemeClr>
          </a:solidFill>
          <a:ln/>
        </p:spPr>
      </p:sp>
      <p:sp>
        <p:nvSpPr>
          <p:cNvPr id="7" name="Crumb 3"/>
          <p:cNvSpPr/>
          <p:nvPr/>
        </p:nvSpPr>
        <p:spPr>
          <a:xfrm>
            <a:off x="1783080" y="5669280"/>
            <a:ext cx="201168" cy="201168"/>
          </a:xfrm>
          <a:prstGeom prst="ellipse">
            <a:avLst/>
          </a:prstGeom>
          <a:solidFill>
            <a:schemeClr val="accent1">
              <a:alpha val="80000"/>
            </a:schemeClr>
          </a:solidFill>
          <a:ln/>
        </p:spPr>
      </p:sp>
      <p:sp>
        <p:nvSpPr>
          <p:cNvPr id="8" name="Crumb 4"/>
          <p:cNvSpPr/>
          <p:nvPr/>
        </p:nvSpPr>
        <p:spPr>
          <a:xfrm>
            <a:off x="2331720" y="6053328"/>
            <a:ext cx="91440" cy="91440"/>
          </a:xfrm>
          <a:prstGeom prst="ellipse">
            <a:avLst/>
          </a:prstGeom>
          <a:solidFill>
            <a:schemeClr val="accent1">
              <a:alpha val="40000"/>
            </a:schemeClr>
          </a:solidFill>
          <a:ln/>
        </p:spPr>
      </p:sp>
      <p:sp>
        <p:nvSpPr>
          <p:cNvPr id="9" name="Crumb 5"/>
          <p:cNvSpPr/>
          <p:nvPr/>
        </p:nvSpPr>
        <p:spPr>
          <a:xfrm>
            <a:off x="2788920" y="5760720"/>
            <a:ext cx="146304" cy="146304"/>
          </a:xfrm>
          <a:prstGeom prst="ellipse">
            <a:avLst/>
          </a:prstGeom>
          <a:solidFill>
            <a:schemeClr val="accent1">
              <a:alpha val="60000"/>
            </a:schemeClr>
          </a:solidFill>
          <a:ln/>
        </p:spPr>
      </p:sp>
      <p:sp>
        <p:nvSpPr>
          <p:cNvPr id="10" name="Crumb 6"/>
          <p:cNvSpPr/>
          <p:nvPr/>
        </p:nvSpPr>
        <p:spPr>
          <a:xfrm>
            <a:off x="3429000" y="6126480"/>
            <a:ext cx="109728" cy="109728"/>
          </a:xfrm>
          <a:prstGeom prst="ellipse">
            <a:avLst/>
          </a:prstGeom>
          <a:solidFill>
            <a:schemeClr val="accent1">
              <a:alpha val="40000"/>
            </a:schemeClr>
          </a:solidFill>
          <a:ln/>
        </p:spPr>
      </p:sp>
      <p:sp>
        <p:nvSpPr>
          <p:cNvPr id="11" name="Crumb 7"/>
          <p:cNvSpPr/>
          <p:nvPr/>
        </p:nvSpPr>
        <p:spPr>
          <a:xfrm>
            <a:off x="3977640" y="5852160"/>
            <a:ext cx="182880" cy="182880"/>
          </a:xfrm>
          <a:prstGeom prst="ellipse">
            <a:avLst/>
          </a:prstGeom>
          <a:solidFill>
            <a:schemeClr val="accent1">
              <a:alpha val="70000"/>
            </a:schemeClr>
          </a:solidFill>
          <a:ln/>
        </p:spPr>
      </p:sp>
      <p:sp>
        <p:nvSpPr>
          <p:cNvPr id="12" name="Crumb 8"/>
          <p:cNvSpPr/>
          <p:nvPr/>
        </p:nvSpPr>
        <p:spPr>
          <a:xfrm>
            <a:off x="4617720" y="6172200"/>
            <a:ext cx="91440" cy="91440"/>
          </a:xfrm>
          <a:prstGeom prst="ellipse">
            <a:avLst/>
          </a:prstGeom>
          <a:solidFill>
            <a:schemeClr val="accent1">
              <a:alpha val="35000"/>
            </a:schemeClr>
          </a:solidFill>
          <a:ln/>
        </p:spPr>
      </p:sp>
      <p:sp>
        <p:nvSpPr>
          <p:cNvPr id="13" name="Text 11"/>
          <p:cNvSpPr txBox="1"/>
          <p:nvPr/>
        </p:nvSpPr>
        <p:spPr>
          <a:xfrm>
            <a:off x="777240" y="4663440"/>
            <a:ext cx="5029200" cy="457200"/>
          </a:xfrm>
          <a:prstGeom prst="rect">
            <a:avLst/>
          </a:prstGeom>
          <a:noFill/>
          <a:ln/>
        </p:spPr>
        <p:txBody>
          <a:bodyPr wrap="square" lIns="0" tIns="0" rIns="0" bIns="0" rtlCol="0" anchor="ctr"/>
          <a:lstStyle/>
          <a:p>
            <a:pPr indent="0" marL="0">
              <a:buNone/>
            </a:pPr>
            <a:r>
              <a:rPr lang="en-US" sz="2200" i="1" dirty="0">
                <a:solidFill>
                  <a:schemeClr val="accent2"/>
                </a:solidFill>
                <a:latin typeface="+mj-lt" pitchFamily="34" charset="0"/>
                <a:ea typeface="+mj-lt" pitchFamily="34" charset="-122"/>
                <a:cs typeface="+mj-lt" pitchFamily="34" charset="-120"/>
              </a:rPr>
              <a:t>Every review leaves crumbs.</a:t>
            </a:r>
            <a:endParaRPr lang="en-US" sz="2200" dirty="0"/>
          </a:p>
        </p:txBody>
      </p:sp>
      <p:pic>
        <p:nvPicPr>
          <p:cNvPr id="14" name="Phone insights" descr="Business Insights screen">    </p:cNvPr>
          <p:cNvPicPr>
            <a:picLocks noChangeAspect="1"/>
          </p:cNvPicPr>
          <p:nvPr/>
        </p:nvPicPr>
        <p:blipFill>
          <a:blip r:embed="rId1"/>
          <a:stretch>
            <a:fillRect/>
          </a:stretch>
        </p:blipFill>
        <p:spPr>
          <a:xfrm rot="-420000">
            <a:off x="6172200" y="1645920"/>
            <a:ext cx="2234455" cy="4480560"/>
          </a:xfrm>
          <a:prstGeom prst="rect">
            <a:avLst/>
          </a:prstGeom>
        </p:spPr>
      </p:pic>
      <p:pic>
        <p:nvPicPr>
          <p:cNvPr id="15" name="Phone alerts" descr="Alerts screen">    </p:cNvPr>
          <p:cNvPicPr>
            <a:picLocks noChangeAspect="1"/>
          </p:cNvPicPr>
          <p:nvPr/>
        </p:nvPicPr>
        <p:blipFill>
          <a:blip r:embed="rId2"/>
          <a:stretch>
            <a:fillRect/>
          </a:stretch>
        </p:blipFill>
        <p:spPr>
          <a:xfrm rot="420000">
            <a:off x="9646920" y="1645920"/>
            <a:ext cx="2234455" cy="4480560"/>
          </a:xfrm>
          <a:prstGeom prst="rect">
            <a:avLst/>
          </a:prstGeom>
        </p:spPr>
      </p:pic>
      <p:pic>
        <p:nvPicPr>
          <p:cNvPr id="16" name="Phone compare" descr="Compare side by side screen with the crumbs pick">    </p:cNvPr>
          <p:cNvPicPr>
            <a:picLocks noChangeAspect="1"/>
          </p:cNvPicPr>
          <p:nvPr/>
        </p:nvPicPr>
        <p:blipFill>
          <a:blip r:embed="rId3"/>
          <a:stretch>
            <a:fillRect/>
          </a:stretch>
        </p:blipFill>
        <p:spPr>
          <a:xfrm>
            <a:off x="7589520" y="640080"/>
            <a:ext cx="2736068"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t"/>
          <a:lstStyle/>
          <a:p>
            <a:pPr algn="l" indent="0" marL="0">
              <a:buNone/>
            </a:pPr>
            <a:r>
              <a:rPr lang="en-US" sz="4000" b="1" dirty="0">
                <a:solidFill>
                  <a:schemeClr val="tx1"/>
                </a:solidFill>
              </a:rPr>
              <a:t>Small food shops are flying blind</a:t>
            </a:r>
            <a:endParaRPr lang="en-US" sz="4000" dirty="0"/>
          </a:p>
        </p:txBody>
      </p:sp>
      <p:sp>
        <p:nvSpPr>
          <p:cNvPr id="3" name="Stat card 1"/>
          <p:cNvSpPr/>
          <p:nvPr/>
        </p:nvSpPr>
        <p:spPr>
          <a:xfrm>
            <a:off x="640080" y="1554480"/>
            <a:ext cx="5394960" cy="1371600"/>
          </a:xfrm>
          <a:prstGeom prst="roundRect">
            <a:avLst>
              <a:gd name="adj" fmla="val 10000"/>
            </a:avLst>
          </a:prstGeom>
          <a:solidFill>
            <a:schemeClr val="bg2"/>
          </a:solidFill>
          <a:ln/>
          <a:effectLst>
            <a:outerShdw sx="100000" sy="100000" kx="0" ky="0" algn="bl" rotWithShape="0" blurRad="177800" dist="38100" dir="5400000">
              <a:srgbClr val="000000">
                <a:alpha val="20000"/>
              </a:srgbClr>
            </a:outerShdw>
          </a:effectLst>
        </p:spPr>
      </p:sp>
      <p:sp>
        <p:nvSpPr>
          <p:cNvPr id="4" name="Text 2"/>
          <p:cNvSpPr txBox="1"/>
          <p:nvPr/>
        </p:nvSpPr>
        <p:spPr>
          <a:xfrm>
            <a:off x="914400" y="1645920"/>
            <a:ext cx="4937760" cy="731520"/>
          </a:xfrm>
          <a:prstGeom prst="rect">
            <a:avLst/>
          </a:prstGeom>
          <a:noFill/>
          <a:ln/>
        </p:spPr>
        <p:txBody>
          <a:bodyPr wrap="square" lIns="0" tIns="0" rIns="0" bIns="0" rtlCol="0" anchor="ctr"/>
          <a:lstStyle/>
          <a:p>
            <a:pPr indent="0" marL="0">
              <a:buNone/>
            </a:pPr>
            <a:r>
              <a:rPr lang="en-US" sz="4600" b="1" dirty="0">
                <a:solidFill>
                  <a:schemeClr val="tx1"/>
                </a:solidFill>
                <a:latin typeface="+mj-lt" pitchFamily="34" charset="0"/>
                <a:ea typeface="+mj-lt" pitchFamily="34" charset="-122"/>
                <a:cs typeface="+mj-lt" pitchFamily="34" charset="-120"/>
              </a:rPr>
              <a:t>25 of 38</a:t>
            </a:r>
            <a:endParaRPr lang="en-US" sz="4600" dirty="0"/>
          </a:p>
        </p:txBody>
      </p:sp>
      <p:sp>
        <p:nvSpPr>
          <p:cNvPr id="5" name="Text 3"/>
          <p:cNvSpPr txBox="1"/>
          <p:nvPr/>
        </p:nvSpPr>
        <p:spPr>
          <a:xfrm>
            <a:off x="914400" y="2377440"/>
            <a:ext cx="4937760" cy="457200"/>
          </a:xfrm>
          <a:prstGeom prst="rect">
            <a:avLst/>
          </a:prstGeom>
          <a:noFill/>
          <a:ln/>
        </p:spPr>
        <p:txBody>
          <a:bodyPr wrap="square" lIns="0" tIns="0" rIns="0" bIns="0" rtlCol="0" anchor="t"/>
          <a:lstStyle/>
          <a:p>
            <a:pPr indent="0" marL="0">
              <a:buNone/>
            </a:pPr>
            <a:r>
              <a:rPr lang="en-US" sz="1500" dirty="0">
                <a:solidFill>
                  <a:schemeClr val="tx2"/>
                </a:solidFill>
              </a:rPr>
              <a:t>Washington owners surveyed name marketing a top time sink</a:t>
            </a:r>
            <a:endParaRPr lang="en-US" sz="1500" dirty="0"/>
          </a:p>
        </p:txBody>
      </p:sp>
      <p:sp>
        <p:nvSpPr>
          <p:cNvPr id="6" name="Stat card 2"/>
          <p:cNvSpPr/>
          <p:nvPr/>
        </p:nvSpPr>
        <p:spPr>
          <a:xfrm>
            <a:off x="640080" y="3108960"/>
            <a:ext cx="5394960" cy="1371600"/>
          </a:xfrm>
          <a:prstGeom prst="roundRect">
            <a:avLst>
              <a:gd name="adj" fmla="val 10000"/>
            </a:avLst>
          </a:prstGeom>
          <a:solidFill>
            <a:schemeClr val="bg2"/>
          </a:solidFill>
          <a:ln/>
          <a:effectLst>
            <a:outerShdw sx="100000" sy="100000" kx="0" ky="0" algn="bl" rotWithShape="0" blurRad="177800" dist="38100" dir="5400000">
              <a:srgbClr val="000000">
                <a:alpha val="20000"/>
              </a:srgbClr>
            </a:outerShdw>
          </a:effectLst>
        </p:spPr>
      </p:sp>
      <p:sp>
        <p:nvSpPr>
          <p:cNvPr id="7" name="Text 5"/>
          <p:cNvSpPr txBox="1"/>
          <p:nvPr/>
        </p:nvSpPr>
        <p:spPr>
          <a:xfrm>
            <a:off x="914400" y="3200400"/>
            <a:ext cx="4937760" cy="731520"/>
          </a:xfrm>
          <a:prstGeom prst="rect">
            <a:avLst/>
          </a:prstGeom>
          <a:noFill/>
          <a:ln/>
        </p:spPr>
        <p:txBody>
          <a:bodyPr wrap="square" lIns="0" tIns="0" rIns="0" bIns="0" rtlCol="0" anchor="ctr"/>
          <a:lstStyle/>
          <a:p>
            <a:pPr indent="0" marL="0">
              <a:buNone/>
            </a:pPr>
            <a:r>
              <a:rPr lang="en-US" sz="4600" b="1" dirty="0">
                <a:solidFill>
                  <a:schemeClr val="tx1"/>
                </a:solidFill>
                <a:latin typeface="+mj-lt" pitchFamily="34" charset="0"/>
                <a:ea typeface="+mj-lt" pitchFamily="34" charset="-122"/>
                <a:cs typeface="+mj-lt" pitchFamily="34" charset="-120"/>
              </a:rPr>
              <a:t>16 of 38</a:t>
            </a:r>
            <a:endParaRPr lang="en-US" sz="4600" dirty="0"/>
          </a:p>
        </p:txBody>
      </p:sp>
      <p:sp>
        <p:nvSpPr>
          <p:cNvPr id="8" name="Text 6"/>
          <p:cNvSpPr txBox="1"/>
          <p:nvPr/>
        </p:nvSpPr>
        <p:spPr>
          <a:xfrm>
            <a:off x="914400" y="3931920"/>
            <a:ext cx="4937760" cy="457200"/>
          </a:xfrm>
          <a:prstGeom prst="rect">
            <a:avLst/>
          </a:prstGeom>
          <a:noFill/>
          <a:ln/>
        </p:spPr>
        <p:txBody>
          <a:bodyPr wrap="square" lIns="0" tIns="0" rIns="0" bIns="0" rtlCol="0" anchor="t"/>
          <a:lstStyle/>
          <a:p>
            <a:pPr indent="0" marL="0">
              <a:buNone/>
            </a:pPr>
            <a:r>
              <a:rPr lang="en-US" sz="1500" dirty="0">
                <a:solidFill>
                  <a:schemeClr val="tx2"/>
                </a:solidFill>
              </a:rPr>
              <a:t>worry about customer data and privacy when using AI</a:t>
            </a:r>
            <a:endParaRPr lang="en-US" sz="1500" dirty="0"/>
          </a:p>
        </p:txBody>
      </p:sp>
      <p:sp>
        <p:nvSpPr>
          <p:cNvPr id="9" name="Stat card 3"/>
          <p:cNvSpPr/>
          <p:nvPr/>
        </p:nvSpPr>
        <p:spPr>
          <a:xfrm>
            <a:off x="640080" y="4663440"/>
            <a:ext cx="5394960" cy="1371600"/>
          </a:xfrm>
          <a:prstGeom prst="roundRect">
            <a:avLst>
              <a:gd name="adj" fmla="val 10000"/>
            </a:avLst>
          </a:prstGeom>
          <a:solidFill>
            <a:schemeClr val="bg2"/>
          </a:solidFill>
          <a:ln/>
          <a:effectLst>
            <a:outerShdw sx="100000" sy="100000" kx="0" ky="0" algn="bl" rotWithShape="0" blurRad="177800" dist="38100" dir="5400000">
              <a:srgbClr val="000000">
                <a:alpha val="20000"/>
              </a:srgbClr>
            </a:outerShdw>
          </a:effectLst>
        </p:spPr>
      </p:sp>
      <p:sp>
        <p:nvSpPr>
          <p:cNvPr id="10" name="Text 8"/>
          <p:cNvSpPr txBox="1"/>
          <p:nvPr/>
        </p:nvSpPr>
        <p:spPr>
          <a:xfrm>
            <a:off x="914400" y="4754880"/>
            <a:ext cx="4937760" cy="731520"/>
          </a:xfrm>
          <a:prstGeom prst="rect">
            <a:avLst/>
          </a:prstGeom>
          <a:noFill/>
          <a:ln/>
        </p:spPr>
        <p:txBody>
          <a:bodyPr wrap="square" lIns="0" tIns="0" rIns="0" bIns="0" rtlCol="0" anchor="ctr"/>
          <a:lstStyle/>
          <a:p>
            <a:pPr indent="0" marL="0">
              <a:buNone/>
            </a:pPr>
            <a:r>
              <a:rPr lang="en-US" sz="4600" b="1" dirty="0">
                <a:solidFill>
                  <a:schemeClr val="tx1"/>
                </a:solidFill>
                <a:latin typeface="+mj-lt" pitchFamily="34" charset="0"/>
                <a:ea typeface="+mj-lt" pitchFamily="34" charset="-122"/>
                <a:cs typeface="+mj-lt" pitchFamily="34" charset="-120"/>
              </a:rPr>
              <a:t>94.5 vs 98.5</a:t>
            </a:r>
            <a:endParaRPr lang="en-US" sz="4600" dirty="0"/>
          </a:p>
        </p:txBody>
      </p:sp>
      <p:sp>
        <p:nvSpPr>
          <p:cNvPr id="11" name="Text 9"/>
          <p:cNvSpPr txBox="1"/>
          <p:nvPr/>
        </p:nvSpPr>
        <p:spPr>
          <a:xfrm>
            <a:off x="914400" y="5486400"/>
            <a:ext cx="4937760" cy="457200"/>
          </a:xfrm>
          <a:prstGeom prst="rect">
            <a:avLst/>
          </a:prstGeom>
          <a:noFill/>
          <a:ln/>
        </p:spPr>
        <p:txBody>
          <a:bodyPr wrap="square" lIns="0" tIns="0" rIns="0" bIns="0" rtlCol="0" anchor="t"/>
          <a:lstStyle/>
          <a:p>
            <a:pPr indent="0" marL="0">
              <a:buNone/>
            </a:pPr>
            <a:r>
              <a:rPr lang="en-US" sz="1500" dirty="0">
                <a:solidFill>
                  <a:schemeClr val="tx2"/>
                </a:solidFill>
              </a:rPr>
              <a:t>Washington small-business optimism vs the U.S. (NFIB, winter 2026)</a:t>
            </a:r>
            <a:endParaRPr lang="en-US" sz="1500" dirty="0"/>
          </a:p>
        </p:txBody>
      </p:sp>
      <p:sp>
        <p:nvSpPr>
          <p:cNvPr id="12" name="Chart card"/>
          <p:cNvSpPr/>
          <p:nvPr/>
        </p:nvSpPr>
        <p:spPr>
          <a:xfrm>
            <a:off x="6355080" y="1554480"/>
            <a:ext cx="5212080" cy="4480560"/>
          </a:xfrm>
          <a:prstGeom prst="roundRect">
            <a:avLst>
              <a:gd name="adj" fmla="val 4082"/>
            </a:avLst>
          </a:prstGeom>
          <a:solidFill>
            <a:schemeClr val="tx1"/>
          </a:solidFill>
          <a:ln/>
          <a:effectLst>
            <a:outerShdw sx="100000" sy="100000" kx="0" ky="0" algn="bl" rotWithShape="0" blurRad="177800" dist="38100" dir="5400000">
              <a:srgbClr val="000000">
                <a:alpha val="20000"/>
              </a:srgbClr>
            </a:outerShdw>
          </a:effectLst>
        </p:spPr>
      </p:sp>
      <p:sp>
        <p:nvSpPr>
          <p:cNvPr id="13" name="Text 11"/>
          <p:cNvSpPr txBox="1"/>
          <p:nvPr/>
        </p:nvSpPr>
        <p:spPr>
          <a:xfrm>
            <a:off x="6675120" y="1737360"/>
            <a:ext cx="4572000" cy="365760"/>
          </a:xfrm>
          <a:prstGeom prst="rect">
            <a:avLst/>
          </a:prstGeom>
          <a:noFill/>
          <a:ln/>
        </p:spPr>
        <p:txBody>
          <a:bodyPr wrap="square" lIns="0" tIns="0" rIns="0" bIns="0" rtlCol="0" anchor="ctr"/>
          <a:lstStyle/>
          <a:p>
            <a:pPr indent="0" marL="0">
              <a:buNone/>
            </a:pPr>
            <a:r>
              <a:rPr lang="en-US" sz="1800" b="1" dirty="0">
                <a:solidFill>
                  <a:schemeClr val="bg1"/>
                </a:solidFill>
              </a:rPr>
              <a:t>Where Washington owners lose time</a:t>
            </a:r>
            <a:endParaRPr lang="en-US" sz="1800" dirty="0"/>
          </a:p>
        </p:txBody>
      </p:sp>
      <p:sp>
        <p:nvSpPr>
          <p:cNvPr id="14" name="Text 12"/>
          <p:cNvSpPr txBox="1"/>
          <p:nvPr/>
        </p:nvSpPr>
        <p:spPr>
          <a:xfrm>
            <a:off x="6675120" y="2121408"/>
            <a:ext cx="4572000" cy="274320"/>
          </a:xfrm>
          <a:prstGeom prst="rect">
            <a:avLst/>
          </a:prstGeom>
          <a:noFill/>
          <a:ln/>
        </p:spPr>
        <p:txBody>
          <a:bodyPr wrap="square" lIns="0" tIns="0" rIns="0" bIns="0" rtlCol="0" anchor="ctr"/>
          <a:lstStyle/>
          <a:p>
            <a:pPr indent="0" marL="0">
              <a:buNone/>
            </a:pPr>
            <a:r>
              <a:rPr lang="en-US" sz="1200" dirty="0">
                <a:solidFill>
                  <a:schemeClr val="accent6"/>
                </a:solidFill>
              </a:rPr>
              <a:t>Owners naming it a top time sink, out of 38</a:t>
            </a:r>
            <a:endParaRPr lang="en-US" sz="1200" dirty="0"/>
          </a:p>
        </p:txBody>
      </p:sp>
      <p:graphicFrame>
        <p:nvGraphicFramePr>
          <p:cNvPr id="15" name="Chart 0" descr=""/>
          <p:cNvGraphicFramePr/>
          <p:nvPr/>
        </p:nvGraphicFramePr>
        <p:xfrm>
          <a:off x="6492240" y="246888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640080" y="6144768"/>
            <a:ext cx="10881360" cy="228600"/>
          </a:xfrm>
          <a:prstGeom prst="rect">
            <a:avLst/>
          </a:prstGeom>
          <a:noFill/>
          <a:ln/>
        </p:spPr>
        <p:txBody>
          <a:bodyPr wrap="square" lIns="0" tIns="0" rIns="0" bIns="0" rtlCol="0" anchor="ctr"/>
          <a:lstStyle/>
          <a:p>
            <a:pPr indent="0" marL="0">
              <a:buNone/>
            </a:pPr>
            <a:r>
              <a:rPr lang="en-US" sz="1000" dirty="0">
                <a:solidFill>
                  <a:schemeClr val="accent5"/>
                </a:solidFill>
              </a:rPr>
              <a:t>Sources: hackathon survey of 38 Washington owners (multi-select); NFIB Small Business Economic Trends, Washington, Winter 2026</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t"/>
          <a:lstStyle/>
          <a:p>
            <a:pPr algn="l" indent="0" marL="0">
              <a:buNone/>
            </a:pPr>
            <a:r>
              <a:rPr lang="en-US" sz="4000" b="1" dirty="0">
                <a:solidFill>
                  <a:schemeClr val="bg1"/>
                </a:solidFill>
              </a:rPr>
              <a:t>One product, two sides</a:t>
            </a:r>
            <a:endParaRPr lang="en-US" sz="4000" dirty="0"/>
          </a:p>
        </p:txBody>
      </p:sp>
      <p:pic>
        <p:nvPicPr>
          <p:cNvPr id="3" name="Phone map" descr="For neighbors">    </p:cNvPr>
          <p:cNvPicPr>
            <a:picLocks noChangeAspect="1"/>
          </p:cNvPicPr>
          <p:nvPr/>
        </p:nvPicPr>
        <p:blipFill>
          <a:blip r:embed="rId1"/>
          <a:stretch>
            <a:fillRect/>
          </a:stretch>
        </p:blipFill>
        <p:spPr>
          <a:xfrm>
            <a:off x="731520" y="1417320"/>
            <a:ext cx="2325658" cy="4663440"/>
          </a:xfrm>
          <a:prstGeom prst="rect">
            <a:avLst/>
          </a:prstGeom>
        </p:spPr>
      </p:pic>
      <p:sp>
        <p:nvSpPr>
          <p:cNvPr id="4" name="Icon badge For neighbors"/>
          <p:cNvSpPr/>
          <p:nvPr/>
        </p:nvSpPr>
        <p:spPr>
          <a:xfrm>
            <a:off x="3429000" y="1737360"/>
            <a:ext cx="640080" cy="640080"/>
          </a:xfrm>
          <a:prstGeom prst="ellipse">
            <a:avLst/>
          </a:prstGeom>
          <a:solidFill>
            <a:schemeClr val="accent2"/>
          </a:solidFill>
          <a:ln/>
        </p:spPr>
      </p:sp>
      <p:pic>
        <p:nvPicPr>
          <p:cNvPr id="5" name="Icon For neighbors" descr="For neighbors">    </p:cNvPr>
          <p:cNvPicPr>
            <a:picLocks noChangeAspect="1"/>
          </p:cNvPicPr>
          <p:nvPr/>
        </p:nvPicPr>
        <p:blipFill>
          <a:blip r:embed="rId2"/>
          <a:stretch>
            <a:fillRect/>
          </a:stretch>
        </p:blipFill>
        <p:spPr>
          <a:xfrm>
            <a:off x="3595421" y="1903781"/>
            <a:ext cx="307238" cy="307238"/>
          </a:xfrm>
          <a:prstGeom prst="rect">
            <a:avLst/>
          </a:prstGeom>
        </p:spPr>
      </p:pic>
      <p:sp>
        <p:nvSpPr>
          <p:cNvPr id="6" name="Text 2"/>
          <p:cNvSpPr txBox="1"/>
          <p:nvPr/>
        </p:nvSpPr>
        <p:spPr>
          <a:xfrm>
            <a:off x="3429000" y="2606040"/>
            <a:ext cx="2468880" cy="457200"/>
          </a:xfrm>
          <a:prstGeom prst="rect">
            <a:avLst/>
          </a:prstGeom>
          <a:noFill/>
          <a:ln/>
        </p:spPr>
        <p:txBody>
          <a:bodyPr wrap="square" lIns="0" tIns="0" rIns="0" bIns="0" rtlCol="0" anchor="ctr"/>
          <a:lstStyle/>
          <a:p>
            <a:pPr indent="0" marL="0">
              <a:buNone/>
            </a:pPr>
            <a:r>
              <a:rPr lang="en-US" sz="2400" b="1" dirty="0">
                <a:solidFill>
                  <a:schemeClr val="accent2"/>
                </a:solidFill>
              </a:rPr>
              <a:t>For neighbors</a:t>
            </a:r>
            <a:endParaRPr lang="en-US" sz="2400" dirty="0"/>
          </a:p>
        </p:txBody>
      </p:sp>
      <p:sp>
        <p:nvSpPr>
          <p:cNvPr id="7" name="Text 3"/>
          <p:cNvSpPr txBox="1"/>
          <p:nvPr/>
        </p:nvSpPr>
        <p:spPr>
          <a:xfrm>
            <a:off x="3429000" y="3154680"/>
            <a:ext cx="2468880" cy="2377440"/>
          </a:xfrm>
          <a:prstGeom prst="rect">
            <a:avLst/>
          </a:prstGeom>
          <a:noFill/>
          <a:ln/>
        </p:spPr>
        <p:txBody>
          <a:bodyPr wrap="square" lIns="0" tIns="0" rIns="0" bIns="0" rtlCol="0" anchor="t"/>
          <a:lstStyle/>
          <a:p>
            <a:pPr indent="0" marL="0">
              <a:buNone/>
            </a:pPr>
            <a:r>
              <a:rPr lang="en-US" sz="1600" dirty="0">
                <a:solidFill>
                  <a:schemeClr val="bg1"/>
                </a:solidFill>
              </a:rPr>
              <a:t>Pick a food, see every nearby spot scored side by side, and get a walking route to the winner.</a:t>
            </a:r>
            <a:endParaRPr lang="en-US" sz="1600" dirty="0"/>
          </a:p>
        </p:txBody>
      </p:sp>
      <p:pic>
        <p:nvPicPr>
          <p:cNvPr id="8" name="Phone rivals" descr="For owners">    </p:cNvPr>
          <p:cNvPicPr>
            <a:picLocks noChangeAspect="1"/>
          </p:cNvPicPr>
          <p:nvPr/>
        </p:nvPicPr>
        <p:blipFill>
          <a:blip r:embed="rId3"/>
          <a:stretch>
            <a:fillRect/>
          </a:stretch>
        </p:blipFill>
        <p:spPr>
          <a:xfrm>
            <a:off x="6446520" y="1417320"/>
            <a:ext cx="2325658" cy="4663440"/>
          </a:xfrm>
          <a:prstGeom prst="rect">
            <a:avLst/>
          </a:prstGeom>
        </p:spPr>
      </p:pic>
      <p:sp>
        <p:nvSpPr>
          <p:cNvPr id="9" name="Icon badge For owners"/>
          <p:cNvSpPr/>
          <p:nvPr/>
        </p:nvSpPr>
        <p:spPr>
          <a:xfrm>
            <a:off x="9144000" y="1737360"/>
            <a:ext cx="640080" cy="640080"/>
          </a:xfrm>
          <a:prstGeom prst="ellipse">
            <a:avLst/>
          </a:prstGeom>
          <a:solidFill>
            <a:schemeClr val="accent2"/>
          </a:solidFill>
          <a:ln/>
        </p:spPr>
      </p:sp>
      <p:pic>
        <p:nvPicPr>
          <p:cNvPr id="10" name="Icon For owners" descr="For owners">    </p:cNvPr>
          <p:cNvPicPr>
            <a:picLocks noChangeAspect="1"/>
          </p:cNvPicPr>
          <p:nvPr/>
        </p:nvPicPr>
        <p:blipFill>
          <a:blip r:embed="rId4"/>
          <a:stretch>
            <a:fillRect/>
          </a:stretch>
        </p:blipFill>
        <p:spPr>
          <a:xfrm>
            <a:off x="9310421" y="1903781"/>
            <a:ext cx="307238" cy="307238"/>
          </a:xfrm>
          <a:prstGeom prst="rect">
            <a:avLst/>
          </a:prstGeom>
        </p:spPr>
      </p:pic>
      <p:sp>
        <p:nvSpPr>
          <p:cNvPr id="11" name="Text 5"/>
          <p:cNvSpPr txBox="1"/>
          <p:nvPr/>
        </p:nvSpPr>
        <p:spPr>
          <a:xfrm>
            <a:off x="9144000" y="2606040"/>
            <a:ext cx="2468880" cy="457200"/>
          </a:xfrm>
          <a:prstGeom prst="rect">
            <a:avLst/>
          </a:prstGeom>
          <a:noFill/>
          <a:ln/>
        </p:spPr>
        <p:txBody>
          <a:bodyPr wrap="square" lIns="0" tIns="0" rIns="0" bIns="0" rtlCol="0" anchor="ctr"/>
          <a:lstStyle/>
          <a:p>
            <a:pPr indent="0" marL="0">
              <a:buNone/>
            </a:pPr>
            <a:r>
              <a:rPr lang="en-US" sz="2400" b="1" dirty="0">
                <a:solidFill>
                  <a:schemeClr val="accent2"/>
                </a:solidFill>
              </a:rPr>
              <a:t>For owners</a:t>
            </a:r>
            <a:endParaRPr lang="en-US" sz="2400" dirty="0"/>
          </a:p>
        </p:txBody>
      </p:sp>
      <p:sp>
        <p:nvSpPr>
          <p:cNvPr id="12" name="Text 6"/>
          <p:cNvSpPr txBox="1"/>
          <p:nvPr/>
        </p:nvSpPr>
        <p:spPr>
          <a:xfrm>
            <a:off x="9144000" y="3154680"/>
            <a:ext cx="2468880" cy="2377440"/>
          </a:xfrm>
          <a:prstGeom prst="rect">
            <a:avLst/>
          </a:prstGeom>
          <a:noFill/>
          <a:ln/>
        </p:spPr>
        <p:txBody>
          <a:bodyPr wrap="square" lIns="0" tIns="0" rIns="0" bIns="0" rtlCol="0" anchor="t"/>
          <a:lstStyle/>
          <a:p>
            <a:pPr indent="0" marL="0">
              <a:buNone/>
            </a:pPr>
            <a:r>
              <a:rPr lang="en-US" sz="1600" dirty="0">
                <a:solidFill>
                  <a:schemeClr val="bg1"/>
                </a:solidFill>
              </a:rPr>
              <a:t>See how you stack up, which rivals diners pick over you and the likely reasons, and get alerts when something changes nearby.</a:t>
            </a:r>
            <a:endParaRPr lang="en-US" sz="1600" dirty="0"/>
          </a:p>
        </p:txBody>
      </p:sp>
      <p:sp>
        <p:nvSpPr>
          <p:cNvPr id="13" name="Text 7"/>
          <p:cNvSpPr txBox="1"/>
          <p:nvPr/>
        </p:nvSpPr>
        <p:spPr>
          <a:xfrm>
            <a:off x="640080" y="6144768"/>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Screens show sample data</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t"/>
          <a:lstStyle/>
          <a:p>
            <a:pPr algn="l" indent="0" marL="0">
              <a:buNone/>
            </a:pPr>
            <a:r>
              <a:rPr lang="en-US" sz="4000" b="1" dirty="0">
                <a:solidFill>
                  <a:schemeClr val="tx1"/>
                </a:solidFill>
              </a:rPr>
              <a:t>Honest picks, built from real reviews</a:t>
            </a:r>
            <a:endParaRPr lang="en-US" sz="4000" dirty="0"/>
          </a:p>
        </p:txBody>
      </p:sp>
      <p:sp>
        <p:nvSpPr>
          <p:cNvPr id="3" name="Phone backdrop"/>
          <p:cNvSpPr/>
          <p:nvPr/>
        </p:nvSpPr>
        <p:spPr>
          <a:xfrm>
            <a:off x="640080" y="1417320"/>
            <a:ext cx="4114800" cy="4709160"/>
          </a:xfrm>
          <a:prstGeom prst="roundRect">
            <a:avLst>
              <a:gd name="adj" fmla="val 5556"/>
            </a:avLst>
          </a:prstGeom>
          <a:solidFill>
            <a:schemeClr val="bg2"/>
          </a:solidFill>
          <a:ln/>
        </p:spPr>
      </p:sp>
      <p:pic>
        <p:nvPicPr>
          <p:cNvPr id="4" name="Phone compare" descr="Compare side by side with scores per attribute">    </p:cNvPr>
          <p:cNvPicPr>
            <a:picLocks noChangeAspect="1"/>
          </p:cNvPicPr>
          <p:nvPr/>
        </p:nvPicPr>
        <p:blipFill>
          <a:blip r:embed="rId1"/>
          <a:stretch>
            <a:fillRect/>
          </a:stretch>
        </p:blipFill>
        <p:spPr>
          <a:xfrm>
            <a:off x="1508760" y="1554480"/>
            <a:ext cx="2211655" cy="4434840"/>
          </a:xfrm>
          <a:prstGeom prst="rect">
            <a:avLst/>
          </a:prstGeom>
        </p:spPr>
      </p:pic>
      <p:sp>
        <p:nvSpPr>
          <p:cNvPr id="5" name="Icon badge Claude reads the reviews"/>
          <p:cNvSpPr/>
          <p:nvPr/>
        </p:nvSpPr>
        <p:spPr>
          <a:xfrm>
            <a:off x="5486400" y="1508760"/>
            <a:ext cx="640080" cy="640080"/>
          </a:xfrm>
          <a:prstGeom prst="ellipse">
            <a:avLst/>
          </a:prstGeom>
          <a:solidFill>
            <a:schemeClr val="accent1"/>
          </a:solidFill>
          <a:ln/>
        </p:spPr>
      </p:sp>
      <p:pic>
        <p:nvPicPr>
          <p:cNvPr id="6" name="Icon Claude reads the reviews" descr="Claude reads the reviews">    </p:cNvPr>
          <p:cNvPicPr>
            <a:picLocks noChangeAspect="1"/>
          </p:cNvPicPr>
          <p:nvPr/>
        </p:nvPicPr>
        <p:blipFill>
          <a:blip r:embed="rId2"/>
          <a:stretch>
            <a:fillRect/>
          </a:stretch>
        </p:blipFill>
        <p:spPr>
          <a:xfrm>
            <a:off x="5652821" y="1675181"/>
            <a:ext cx="307238" cy="307238"/>
          </a:xfrm>
          <a:prstGeom prst="rect">
            <a:avLst/>
          </a:prstGeom>
        </p:spPr>
      </p:pic>
      <p:sp>
        <p:nvSpPr>
          <p:cNvPr id="7" name="Text 3"/>
          <p:cNvSpPr txBox="1"/>
          <p:nvPr/>
        </p:nvSpPr>
        <p:spPr>
          <a:xfrm>
            <a:off x="6355080" y="1508760"/>
            <a:ext cx="5212080" cy="365760"/>
          </a:xfrm>
          <a:prstGeom prst="rect">
            <a:avLst/>
          </a:prstGeom>
          <a:noFill/>
          <a:ln/>
        </p:spPr>
        <p:txBody>
          <a:bodyPr wrap="square" lIns="0" tIns="0" rIns="0" bIns="0" rtlCol="0" anchor="ctr"/>
          <a:lstStyle/>
          <a:p>
            <a:pPr indent="0" marL="0">
              <a:buNone/>
            </a:pPr>
            <a:r>
              <a:rPr lang="en-US" sz="2000" b="1" dirty="0">
                <a:solidFill>
                  <a:schemeClr val="tx1"/>
                </a:solidFill>
              </a:rPr>
              <a:t>Claude reads the reviews</a:t>
            </a:r>
            <a:endParaRPr lang="en-US" sz="2000" dirty="0"/>
          </a:p>
        </p:txBody>
      </p:sp>
      <p:sp>
        <p:nvSpPr>
          <p:cNvPr id="8" name="Text 4"/>
          <p:cNvSpPr txBox="1"/>
          <p:nvPr/>
        </p:nvSpPr>
        <p:spPr>
          <a:xfrm>
            <a:off x="6355080" y="1892808"/>
            <a:ext cx="5212080" cy="640080"/>
          </a:xfrm>
          <a:prstGeom prst="rect">
            <a:avLst/>
          </a:prstGeom>
          <a:noFill/>
          <a:ln/>
        </p:spPr>
        <p:txBody>
          <a:bodyPr wrap="square" lIns="0" tIns="0" rIns="0" bIns="0" rtlCol="0" anchor="t"/>
          <a:lstStyle/>
          <a:p>
            <a:pPr indent="0" marL="0">
              <a:buNone/>
            </a:pPr>
            <a:r>
              <a:rPr lang="en-US" sz="1500" dirty="0">
                <a:solidFill>
                  <a:schemeClr val="tx2"/>
                </a:solidFill>
              </a:rPr>
              <a:t>One call per spot scores each attribute from 0 to 100, from review text only.</a:t>
            </a:r>
            <a:endParaRPr lang="en-US" sz="1500" dirty="0"/>
          </a:p>
        </p:txBody>
      </p:sp>
      <p:sp>
        <p:nvSpPr>
          <p:cNvPr id="9" name="Icon badge Never guessed"/>
          <p:cNvSpPr/>
          <p:nvPr/>
        </p:nvSpPr>
        <p:spPr>
          <a:xfrm>
            <a:off x="5486400" y="2697480"/>
            <a:ext cx="640080" cy="640080"/>
          </a:xfrm>
          <a:prstGeom prst="ellipse">
            <a:avLst/>
          </a:prstGeom>
          <a:solidFill>
            <a:schemeClr val="accent1"/>
          </a:solidFill>
          <a:ln/>
        </p:spPr>
      </p:sp>
      <p:pic>
        <p:nvPicPr>
          <p:cNvPr id="10" name="Icon Never guessed" descr="Never guessed">    </p:cNvPr>
          <p:cNvPicPr>
            <a:picLocks noChangeAspect="1"/>
          </p:cNvPicPr>
          <p:nvPr/>
        </p:nvPicPr>
        <p:blipFill>
          <a:blip r:embed="rId3"/>
          <a:stretch>
            <a:fillRect/>
          </a:stretch>
        </p:blipFill>
        <p:spPr>
          <a:xfrm>
            <a:off x="5652821" y="2863901"/>
            <a:ext cx="307238" cy="307238"/>
          </a:xfrm>
          <a:prstGeom prst="rect">
            <a:avLst/>
          </a:prstGeom>
        </p:spPr>
      </p:pic>
      <p:sp>
        <p:nvSpPr>
          <p:cNvPr id="11" name="Text 6"/>
          <p:cNvSpPr txBox="1"/>
          <p:nvPr/>
        </p:nvSpPr>
        <p:spPr>
          <a:xfrm>
            <a:off x="6355080" y="2697480"/>
            <a:ext cx="5212080" cy="365760"/>
          </a:xfrm>
          <a:prstGeom prst="rect">
            <a:avLst/>
          </a:prstGeom>
          <a:noFill/>
          <a:ln/>
        </p:spPr>
        <p:txBody>
          <a:bodyPr wrap="square" lIns="0" tIns="0" rIns="0" bIns="0" rtlCol="0" anchor="ctr"/>
          <a:lstStyle/>
          <a:p>
            <a:pPr indent="0" marL="0">
              <a:buNone/>
            </a:pPr>
            <a:r>
              <a:rPr lang="en-US" sz="2000" b="1" dirty="0">
                <a:solidFill>
                  <a:schemeClr val="tx1"/>
                </a:solidFill>
              </a:rPr>
              <a:t>Never guessed</a:t>
            </a:r>
            <a:endParaRPr lang="en-US" sz="2000" dirty="0"/>
          </a:p>
        </p:txBody>
      </p:sp>
      <p:sp>
        <p:nvSpPr>
          <p:cNvPr id="12" name="Text 7"/>
          <p:cNvSpPr txBox="1"/>
          <p:nvPr/>
        </p:nvSpPr>
        <p:spPr>
          <a:xfrm>
            <a:off x="6355080" y="3081528"/>
            <a:ext cx="5212080" cy="640080"/>
          </a:xfrm>
          <a:prstGeom prst="rect">
            <a:avLst/>
          </a:prstGeom>
          <a:noFill/>
          <a:ln/>
        </p:spPr>
        <p:txBody>
          <a:bodyPr wrap="square" lIns="0" tIns="0" rIns="0" bIns="0" rtlCol="0" anchor="t"/>
          <a:lstStyle/>
          <a:p>
            <a:pPr indent="0" marL="0">
              <a:buNone/>
            </a:pPr>
            <a:r>
              <a:rPr lang="en-US" sz="1500" dirty="0">
                <a:solidFill>
                  <a:schemeClr val="tx2"/>
                </a:solidFill>
              </a:rPr>
              <a:t>If no review mentions it, the score stays blank. We do not invent a number.</a:t>
            </a:r>
            <a:endParaRPr lang="en-US" sz="1500" dirty="0"/>
          </a:p>
        </p:txBody>
      </p:sp>
      <p:sp>
        <p:nvSpPr>
          <p:cNvPr id="13" name="Icon badge Waits are real minutes"/>
          <p:cNvSpPr/>
          <p:nvPr/>
        </p:nvSpPr>
        <p:spPr>
          <a:xfrm>
            <a:off x="5486400" y="3886200"/>
            <a:ext cx="640080" cy="640080"/>
          </a:xfrm>
          <a:prstGeom prst="ellipse">
            <a:avLst/>
          </a:prstGeom>
          <a:solidFill>
            <a:schemeClr val="accent1"/>
          </a:solidFill>
          <a:ln/>
        </p:spPr>
      </p:sp>
      <p:pic>
        <p:nvPicPr>
          <p:cNvPr id="14" name="Icon Waits are real minutes" descr="Waits are real minutes">    </p:cNvPr>
          <p:cNvPicPr>
            <a:picLocks noChangeAspect="1"/>
          </p:cNvPicPr>
          <p:nvPr/>
        </p:nvPicPr>
        <p:blipFill>
          <a:blip r:embed="rId4"/>
          <a:stretch>
            <a:fillRect/>
          </a:stretch>
        </p:blipFill>
        <p:spPr>
          <a:xfrm>
            <a:off x="5652821" y="4052621"/>
            <a:ext cx="307238" cy="307238"/>
          </a:xfrm>
          <a:prstGeom prst="rect">
            <a:avLst/>
          </a:prstGeom>
        </p:spPr>
      </p:pic>
      <p:sp>
        <p:nvSpPr>
          <p:cNvPr id="15" name="Text 9"/>
          <p:cNvSpPr txBox="1"/>
          <p:nvPr/>
        </p:nvSpPr>
        <p:spPr>
          <a:xfrm>
            <a:off x="6355080" y="3886200"/>
            <a:ext cx="5212080" cy="365760"/>
          </a:xfrm>
          <a:prstGeom prst="rect">
            <a:avLst/>
          </a:prstGeom>
          <a:noFill/>
          <a:ln/>
        </p:spPr>
        <p:txBody>
          <a:bodyPr wrap="square" lIns="0" tIns="0" rIns="0" bIns="0" rtlCol="0" anchor="ctr"/>
          <a:lstStyle/>
          <a:p>
            <a:pPr indent="0" marL="0">
              <a:buNone/>
            </a:pPr>
            <a:r>
              <a:rPr lang="en-US" sz="2000" b="1" dirty="0">
                <a:solidFill>
                  <a:schemeClr val="tx1"/>
                </a:solidFill>
              </a:rPr>
              <a:t>Waits are real minutes</a:t>
            </a:r>
            <a:endParaRPr lang="en-US" sz="2000" dirty="0"/>
          </a:p>
        </p:txBody>
      </p:sp>
      <p:sp>
        <p:nvSpPr>
          <p:cNvPr id="16" name="Text 10"/>
          <p:cNvSpPr txBox="1"/>
          <p:nvPr/>
        </p:nvSpPr>
        <p:spPr>
          <a:xfrm>
            <a:off x="6355080" y="4270248"/>
            <a:ext cx="5212080" cy="640080"/>
          </a:xfrm>
          <a:prstGeom prst="rect">
            <a:avLst/>
          </a:prstGeom>
          <a:noFill/>
          <a:ln/>
        </p:spPr>
        <p:txBody>
          <a:bodyPr wrap="square" lIns="0" tIns="0" rIns="0" bIns="0" rtlCol="0" anchor="t"/>
          <a:lstStyle/>
          <a:p>
            <a:pPr indent="0" marL="0">
              <a:buNone/>
            </a:pPr>
            <a:r>
              <a:rPr lang="en-US" sz="1500" dirty="0">
                <a:solidFill>
                  <a:schemeClr val="tx2"/>
                </a:solidFill>
              </a:rPr>
              <a:t>We take the minutes reviewers actually state, and compute the median in code, not with the model.</a:t>
            </a:r>
            <a:endParaRPr lang="en-US" sz="1500" dirty="0"/>
          </a:p>
        </p:txBody>
      </p:sp>
      <p:sp>
        <p:nvSpPr>
          <p:cNvPr id="17" name="Icon badge The pick is transparent"/>
          <p:cNvSpPr/>
          <p:nvPr/>
        </p:nvSpPr>
        <p:spPr>
          <a:xfrm>
            <a:off x="5486400" y="5074920"/>
            <a:ext cx="640080" cy="640080"/>
          </a:xfrm>
          <a:prstGeom prst="ellipse">
            <a:avLst/>
          </a:prstGeom>
          <a:solidFill>
            <a:schemeClr val="accent1"/>
          </a:solidFill>
          <a:ln/>
        </p:spPr>
      </p:sp>
      <p:pic>
        <p:nvPicPr>
          <p:cNvPr id="18" name="Icon The pick is transparent" descr="The pick is transparent">    </p:cNvPr>
          <p:cNvPicPr>
            <a:picLocks noChangeAspect="1"/>
          </p:cNvPicPr>
          <p:nvPr/>
        </p:nvPicPr>
        <p:blipFill>
          <a:blip r:embed="rId5"/>
          <a:stretch>
            <a:fillRect/>
          </a:stretch>
        </p:blipFill>
        <p:spPr>
          <a:xfrm>
            <a:off x="5652821" y="5241341"/>
            <a:ext cx="307238" cy="307238"/>
          </a:xfrm>
          <a:prstGeom prst="rect">
            <a:avLst/>
          </a:prstGeom>
        </p:spPr>
      </p:pic>
      <p:sp>
        <p:nvSpPr>
          <p:cNvPr id="19" name="Text 12"/>
          <p:cNvSpPr txBox="1"/>
          <p:nvPr/>
        </p:nvSpPr>
        <p:spPr>
          <a:xfrm>
            <a:off x="6355080" y="5074920"/>
            <a:ext cx="5212080" cy="365760"/>
          </a:xfrm>
          <a:prstGeom prst="rect">
            <a:avLst/>
          </a:prstGeom>
          <a:noFill/>
          <a:ln/>
        </p:spPr>
        <p:txBody>
          <a:bodyPr wrap="square" lIns="0" tIns="0" rIns="0" bIns="0" rtlCol="0" anchor="ctr"/>
          <a:lstStyle/>
          <a:p>
            <a:pPr indent="0" marL="0">
              <a:buNone/>
            </a:pPr>
            <a:r>
              <a:rPr lang="en-US" sz="2000" b="1" dirty="0">
                <a:solidFill>
                  <a:schemeClr val="tx1"/>
                </a:solidFill>
              </a:rPr>
              <a:t>The pick is transparent</a:t>
            </a:r>
            <a:endParaRPr lang="en-US" sz="2000" dirty="0"/>
          </a:p>
        </p:txBody>
      </p:sp>
      <p:sp>
        <p:nvSpPr>
          <p:cNvPr id="20" name="Text 13"/>
          <p:cNvSpPr txBox="1"/>
          <p:nvPr/>
        </p:nvSpPr>
        <p:spPr>
          <a:xfrm>
            <a:off x="6355080" y="5458968"/>
            <a:ext cx="5212080" cy="640080"/>
          </a:xfrm>
          <a:prstGeom prst="rect">
            <a:avLst/>
          </a:prstGeom>
          <a:noFill/>
          <a:ln/>
        </p:spPr>
        <p:txBody>
          <a:bodyPr wrap="square" lIns="0" tIns="0" rIns="0" bIns="0" rtlCol="0" anchor="t"/>
          <a:lstStyle/>
          <a:p>
            <a:pPr indent="0" marL="0">
              <a:buNone/>
            </a:pPr>
            <a:r>
              <a:rPr lang="en-US" sz="1500" dirty="0">
                <a:solidFill>
                  <a:schemeClr val="tx2"/>
                </a:solidFill>
              </a:rPr>
              <a:t>Highest average score wins. Ties go to the spot with more reviews read.</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t"/>
          <a:lstStyle/>
          <a:p>
            <a:pPr algn="l" indent="0" marL="0">
              <a:buNone/>
            </a:pPr>
            <a:r>
              <a:rPr lang="en-US" sz="4000" b="1" dirty="0">
                <a:solidFill>
                  <a:schemeClr val="bg1"/>
                </a:solidFill>
              </a:rPr>
              <a:t>Owners get answers, not dashboards</a:t>
            </a:r>
            <a:endParaRPr lang="en-US" sz="4000" dirty="0"/>
          </a:p>
        </p:txBody>
      </p:sp>
      <p:pic>
        <p:nvPicPr>
          <p:cNvPr id="3" name="Phone rivals" descr="Rivals screen: picks lost and why">    </p:cNvPr>
          <p:cNvPicPr>
            <a:picLocks noChangeAspect="1"/>
          </p:cNvPicPr>
          <p:nvPr/>
        </p:nvPicPr>
        <p:blipFill>
          <a:blip r:embed="rId1"/>
          <a:stretch>
            <a:fillRect/>
          </a:stretch>
        </p:blipFill>
        <p:spPr>
          <a:xfrm>
            <a:off x="1237174" y="1463040"/>
            <a:ext cx="2097652" cy="4206240"/>
          </a:xfrm>
          <a:prstGeom prst="rect">
            <a:avLst/>
          </a:prstGeom>
        </p:spPr>
      </p:pic>
      <p:pic>
        <p:nvPicPr>
          <p:cNvPr id="4" name="Phone alerts" descr="Alerts screen">    </p:cNvPr>
          <p:cNvPicPr>
            <a:picLocks noChangeAspect="1"/>
          </p:cNvPicPr>
          <p:nvPr/>
        </p:nvPicPr>
        <p:blipFill>
          <a:blip r:embed="rId2"/>
          <a:stretch>
            <a:fillRect/>
          </a:stretch>
        </p:blipFill>
        <p:spPr>
          <a:xfrm>
            <a:off x="5050222" y="1463040"/>
            <a:ext cx="2097652" cy="4206240"/>
          </a:xfrm>
          <a:prstGeom prst="rect">
            <a:avLst/>
          </a:prstGeom>
        </p:spPr>
      </p:pic>
      <p:pic>
        <p:nvPicPr>
          <p:cNvPr id="5" name="Email report preview" descr="The emailed advisor report: summary and tips with actions and evidence">    </p:cNvPr>
          <p:cNvPicPr>
            <a:picLocks noChangeAspect="1"/>
          </p:cNvPicPr>
          <p:nvPr/>
        </p:nvPicPr>
        <p:blipFill>
          <a:blip r:embed="rId3"/>
          <a:stretch>
            <a:fillRect/>
          </a:stretch>
        </p:blipFill>
        <p:spPr>
          <a:xfrm>
            <a:off x="8389620" y="1463040"/>
            <a:ext cx="2971800" cy="4234605"/>
          </a:xfrm>
          <a:prstGeom prst="rect">
            <a:avLst/>
          </a:prstGeom>
          <a:effectLst>
            <a:outerShdw sx="100000" sy="100000" kx="0" ky="0" algn="bl" rotWithShape="0" blurRad="177800" dist="38100" dir="5400000">
              <a:srgbClr val="000000">
                <a:alpha val="20000"/>
              </a:srgbClr>
            </a:outerShdw>
          </a:effectLst>
        </p:spPr>
      </p:pic>
      <p:sp>
        <p:nvSpPr>
          <p:cNvPr id="6" name="Text 1"/>
          <p:cNvSpPr txBox="1"/>
          <p:nvPr/>
        </p:nvSpPr>
        <p:spPr>
          <a:xfrm>
            <a:off x="640080" y="5760720"/>
            <a:ext cx="3291840" cy="594360"/>
          </a:xfrm>
          <a:prstGeom prst="rect">
            <a:avLst/>
          </a:prstGeom>
          <a:noFill/>
          <a:ln/>
        </p:spPr>
        <p:txBody>
          <a:bodyPr wrap="square" lIns="0" tIns="0" rIns="0" bIns="0" rtlCol="0" anchor="t"/>
          <a:lstStyle/>
          <a:p>
            <a:pPr indent="0" marL="0">
              <a:buNone/>
            </a:pPr>
            <a:r>
              <a:rPr lang="en-US" sz="1800" b="1" dirty="0">
                <a:solidFill>
                  <a:schemeClr val="accent2"/>
                </a:solidFill>
              </a:rPr>
              <a:t>Rivals</a:t>
            </a:r>
            <a:endParaRPr lang="en-US" sz="1800" dirty="0"/>
          </a:p>
          <a:p>
            <a:pPr indent="0" marL="0">
              <a:buNone/>
            </a:pPr>
            <a:r>
              <a:rPr lang="en-US" sz="1400" dirty="0">
                <a:solidFill>
                  <a:schemeClr val="bg1"/>
                </a:solidFill>
              </a:rPr>
              <a:t>Picks lost, and the likely reasons</a:t>
            </a:r>
            <a:endParaRPr lang="en-US" sz="1800" dirty="0"/>
          </a:p>
        </p:txBody>
      </p:sp>
      <p:sp>
        <p:nvSpPr>
          <p:cNvPr id="7" name="Text 2"/>
          <p:cNvSpPr txBox="1"/>
          <p:nvPr/>
        </p:nvSpPr>
        <p:spPr>
          <a:xfrm>
            <a:off x="4453128" y="5760720"/>
            <a:ext cx="3291840" cy="594360"/>
          </a:xfrm>
          <a:prstGeom prst="rect">
            <a:avLst/>
          </a:prstGeom>
          <a:noFill/>
          <a:ln/>
        </p:spPr>
        <p:txBody>
          <a:bodyPr wrap="square" lIns="0" tIns="0" rIns="0" bIns="0" rtlCol="0" anchor="t"/>
          <a:lstStyle/>
          <a:p>
            <a:pPr indent="0" marL="0">
              <a:buNone/>
            </a:pPr>
            <a:r>
              <a:rPr lang="en-US" sz="1800" b="1" dirty="0">
                <a:solidFill>
                  <a:schemeClr val="accent2"/>
                </a:solidFill>
              </a:rPr>
              <a:t>Alerts</a:t>
            </a:r>
            <a:endParaRPr lang="en-US" sz="1800" dirty="0"/>
          </a:p>
          <a:p>
            <a:pPr indent="0" marL="0">
              <a:buNone/>
            </a:pPr>
            <a:r>
              <a:rPr lang="en-US" sz="1400" dirty="0">
                <a:solidFill>
                  <a:schemeClr val="bg1"/>
                </a:solidFill>
              </a:rPr>
              <a:t>Rival changes and low stock in one place</a:t>
            </a:r>
            <a:endParaRPr lang="en-US" sz="1800" dirty="0"/>
          </a:p>
        </p:txBody>
      </p:sp>
      <p:sp>
        <p:nvSpPr>
          <p:cNvPr id="8" name="Text 3"/>
          <p:cNvSpPr txBox="1"/>
          <p:nvPr/>
        </p:nvSpPr>
        <p:spPr>
          <a:xfrm>
            <a:off x="8229600" y="5760720"/>
            <a:ext cx="3291840" cy="594360"/>
          </a:xfrm>
          <a:prstGeom prst="rect">
            <a:avLst/>
          </a:prstGeom>
          <a:noFill/>
          <a:ln/>
        </p:spPr>
        <p:txBody>
          <a:bodyPr wrap="square" lIns="0" tIns="0" rIns="0" bIns="0" rtlCol="0" anchor="t"/>
          <a:lstStyle/>
          <a:p>
            <a:pPr indent="0" marL="0">
              <a:buNone/>
            </a:pPr>
            <a:r>
              <a:rPr lang="en-US" sz="1800" b="1" dirty="0">
                <a:solidFill>
                  <a:schemeClr val="accent2"/>
                </a:solidFill>
              </a:rPr>
              <a:t>Report email</a:t>
            </a:r>
            <a:endParaRPr lang="en-US" sz="1800" dirty="0"/>
          </a:p>
          <a:p>
            <a:pPr indent="0" marL="0">
              <a:buNone/>
            </a:pPr>
            <a:r>
              <a:rPr lang="en-US" sz="1400" dirty="0">
                <a:solidFill>
                  <a:schemeClr val="bg1"/>
                </a:solidFill>
              </a:rPr>
              <a:t>The full advice, in one inbox</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t"/>
          <a:lstStyle/>
          <a:p>
            <a:pPr algn="l" indent="0" marL="0">
              <a:buNone/>
            </a:pPr>
            <a:r>
              <a:rPr lang="en-US" sz="4000" b="1" dirty="0">
                <a:solidFill>
                  <a:schemeClr val="tx1"/>
                </a:solidFill>
              </a:rPr>
              <a:t>One practical step to test</a:t>
            </a:r>
            <a:endParaRPr lang="en-US" sz="4000" dirty="0"/>
          </a:p>
        </p:txBody>
      </p:sp>
      <p:sp>
        <p:nvSpPr>
          <p:cNvPr id="3" name="Tip card"/>
          <p:cNvSpPr/>
          <p:nvPr/>
        </p:nvSpPr>
        <p:spPr>
          <a:xfrm>
            <a:off x="640080" y="1463040"/>
            <a:ext cx="5394960" cy="4160520"/>
          </a:xfrm>
          <a:prstGeom prst="roundRect">
            <a:avLst>
              <a:gd name="adj" fmla="val 4396"/>
            </a:avLst>
          </a:prstGeom>
          <a:solidFill>
            <a:schemeClr val="tx1"/>
          </a:solidFill>
          <a:ln/>
          <a:effectLst>
            <a:outerShdw sx="100000" sy="100000" kx="0" ky="0" algn="bl" rotWithShape="0" blurRad="177800" dist="38100" dir="5400000">
              <a:srgbClr val="000000">
                <a:alpha val="20000"/>
              </a:srgbClr>
            </a:outerShdw>
          </a:effectLst>
        </p:spPr>
      </p:sp>
      <p:sp>
        <p:nvSpPr>
          <p:cNvPr id="4" name="Text 2"/>
          <p:cNvSpPr txBox="1"/>
          <p:nvPr/>
        </p:nvSpPr>
        <p:spPr>
          <a:xfrm>
            <a:off x="960120" y="1691640"/>
            <a:ext cx="475488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MENU · SAMPLE BAKERY REPORT</a:t>
            </a:r>
            <a:endParaRPr lang="en-US" sz="1200" dirty="0"/>
          </a:p>
        </p:txBody>
      </p:sp>
      <p:sp>
        <p:nvSpPr>
          <p:cNvPr id="5" name="Text 3"/>
          <p:cNvSpPr txBox="1"/>
          <p:nvPr/>
        </p:nvSpPr>
        <p:spPr>
          <a:xfrm>
            <a:off x="960120" y="2057400"/>
            <a:ext cx="4754880" cy="114300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Bake more cardamom buns, especially on weekends</a:t>
            </a:r>
            <a:endParaRPr lang="en-US" sz="2600" dirty="0"/>
          </a:p>
        </p:txBody>
      </p:sp>
      <p:sp>
        <p:nvSpPr>
          <p:cNvPr id="6" name="Text 4"/>
          <p:cNvSpPr txBox="1"/>
          <p:nvPr/>
        </p:nvSpPr>
        <p:spPr>
          <a:xfrm>
            <a:off x="960120" y="3337560"/>
            <a:ext cx="4754880" cy="2103120"/>
          </a:xfrm>
          <a:prstGeom prst="rect">
            <a:avLst/>
          </a:prstGeom>
          <a:noFill/>
          <a:ln/>
        </p:spPr>
        <p:txBody>
          <a:bodyPr wrap="square" lIns="0" tIns="0" rIns="0" bIns="0" rtlCol="0" anchor="t"/>
          <a:lstStyle/>
          <a:p>
            <a:pPr indent="0" marL="0">
              <a:buNone/>
            </a:pPr>
            <a:r>
              <a:rPr lang="en-US" sz="1700" b="1" dirty="0">
                <a:solidFill>
                  <a:schemeClr val="accent2"/>
                </a:solidFill>
              </a:rPr>
              <a:t>Do this</a:t>
            </a:r>
            <a:endParaRPr lang="en-US" sz="1700" dirty="0"/>
          </a:p>
          <a:p>
            <a:pPr indent="0" marL="0">
              <a:buNone/>
            </a:pPr>
            <a:r>
              <a:rPr lang="en-US" sz="1700" dirty="0">
                <a:solidFill>
                  <a:schemeClr val="bg1"/>
                </a:solidFill>
              </a:rPr>
              <a:t>Add 10 buns a day Wed–Fri and 15 on Sat–Sun. Note when the last one sells. If they still sell out before 10:00, add 5 more the next week.</a:t>
            </a:r>
            <a:endParaRPr lang="en-US" sz="1700" dirty="0"/>
          </a:p>
        </p:txBody>
      </p:sp>
      <p:sp>
        <p:nvSpPr>
          <p:cNvPr id="7" name="Icon badge From the shop's own sales"/>
          <p:cNvSpPr/>
          <p:nvPr/>
        </p:nvSpPr>
        <p:spPr>
          <a:xfrm>
            <a:off x="6400800" y="1463040"/>
            <a:ext cx="640080" cy="640080"/>
          </a:xfrm>
          <a:prstGeom prst="ellipse">
            <a:avLst/>
          </a:prstGeom>
          <a:solidFill>
            <a:schemeClr val="accent1"/>
          </a:solidFill>
          <a:ln/>
        </p:spPr>
      </p:sp>
      <p:pic>
        <p:nvPicPr>
          <p:cNvPr id="8" name="Icon From the shop's own sales" descr="From the shop's own sales">    </p:cNvPr>
          <p:cNvPicPr>
            <a:picLocks noChangeAspect="1"/>
          </p:cNvPicPr>
          <p:nvPr/>
        </p:nvPicPr>
        <p:blipFill>
          <a:blip r:embed="rId1"/>
          <a:stretch>
            <a:fillRect/>
          </a:stretch>
        </p:blipFill>
        <p:spPr>
          <a:xfrm>
            <a:off x="6567221" y="1629461"/>
            <a:ext cx="307238" cy="307238"/>
          </a:xfrm>
          <a:prstGeom prst="rect">
            <a:avLst/>
          </a:prstGeom>
        </p:spPr>
      </p:pic>
      <p:sp>
        <p:nvSpPr>
          <p:cNvPr id="9" name="Text 6"/>
          <p:cNvSpPr txBox="1"/>
          <p:nvPr/>
        </p:nvSpPr>
        <p:spPr>
          <a:xfrm>
            <a:off x="7269480" y="1463040"/>
            <a:ext cx="4297680" cy="320040"/>
          </a:xfrm>
          <a:prstGeom prst="rect">
            <a:avLst/>
          </a:prstGeom>
          <a:noFill/>
          <a:ln/>
        </p:spPr>
        <p:txBody>
          <a:bodyPr wrap="square" lIns="0" tIns="0" rIns="0" bIns="0" rtlCol="0" anchor="ctr"/>
          <a:lstStyle/>
          <a:p>
            <a:pPr indent="0" marL="0">
              <a:buNone/>
            </a:pPr>
            <a:r>
              <a:rPr lang="en-US" sz="1800" b="1" dirty="0">
                <a:solidFill>
                  <a:schemeClr val="tx1"/>
                </a:solidFill>
              </a:rPr>
              <a:t>From the shop's own sales</a:t>
            </a:r>
            <a:endParaRPr lang="en-US" sz="1800" dirty="0"/>
          </a:p>
        </p:txBody>
      </p:sp>
      <p:sp>
        <p:nvSpPr>
          <p:cNvPr id="10" name="Text 7"/>
          <p:cNvSpPr txBox="1"/>
          <p:nvPr/>
        </p:nvSpPr>
        <p:spPr>
          <a:xfrm>
            <a:off x="7269480" y="1810512"/>
            <a:ext cx="4297680" cy="685800"/>
          </a:xfrm>
          <a:prstGeom prst="rect">
            <a:avLst/>
          </a:prstGeom>
          <a:noFill/>
          <a:ln/>
        </p:spPr>
        <p:txBody>
          <a:bodyPr wrap="square" lIns="0" tIns="0" rIns="0" bIns="0" rtlCol="0" anchor="t"/>
          <a:lstStyle/>
          <a:p>
            <a:pPr indent="0" marL="0">
              <a:buNone/>
            </a:pPr>
            <a:r>
              <a:rPr lang="en-US" sz="1400" dirty="0">
                <a:solidFill>
                  <a:schemeClr val="tx2"/>
                </a:solidFill>
              </a:rPr>
              <a:t>About 40 buns a day, with the last one sold around 8:30. The limit is what gets baked, not what customers want.</a:t>
            </a:r>
            <a:endParaRPr lang="en-US" sz="1400" dirty="0"/>
          </a:p>
        </p:txBody>
      </p:sp>
      <p:sp>
        <p:nvSpPr>
          <p:cNvPr id="11" name="Icon badge From the market"/>
          <p:cNvSpPr/>
          <p:nvPr/>
        </p:nvSpPr>
        <p:spPr>
          <a:xfrm>
            <a:off x="6400800" y="2560320"/>
            <a:ext cx="640080" cy="640080"/>
          </a:xfrm>
          <a:prstGeom prst="ellipse">
            <a:avLst/>
          </a:prstGeom>
          <a:solidFill>
            <a:schemeClr val="accent1"/>
          </a:solidFill>
          <a:ln/>
        </p:spPr>
      </p:sp>
      <p:pic>
        <p:nvPicPr>
          <p:cNvPr id="12" name="Icon From the market" descr="From the market">    </p:cNvPr>
          <p:cNvPicPr>
            <a:picLocks noChangeAspect="1"/>
          </p:cNvPicPr>
          <p:nvPr/>
        </p:nvPicPr>
        <p:blipFill>
          <a:blip r:embed="rId2"/>
          <a:stretch>
            <a:fillRect/>
          </a:stretch>
        </p:blipFill>
        <p:spPr>
          <a:xfrm>
            <a:off x="6567221" y="2726741"/>
            <a:ext cx="307238" cy="307238"/>
          </a:xfrm>
          <a:prstGeom prst="rect">
            <a:avLst/>
          </a:prstGeom>
        </p:spPr>
      </p:pic>
      <p:sp>
        <p:nvSpPr>
          <p:cNvPr id="13" name="Text 9"/>
          <p:cNvSpPr txBox="1"/>
          <p:nvPr/>
        </p:nvSpPr>
        <p:spPr>
          <a:xfrm>
            <a:off x="7269480" y="2560320"/>
            <a:ext cx="4297680" cy="320040"/>
          </a:xfrm>
          <a:prstGeom prst="rect">
            <a:avLst/>
          </a:prstGeom>
          <a:noFill/>
          <a:ln/>
        </p:spPr>
        <p:txBody>
          <a:bodyPr wrap="square" lIns="0" tIns="0" rIns="0" bIns="0" rtlCol="0" anchor="ctr"/>
          <a:lstStyle/>
          <a:p>
            <a:pPr indent="0" marL="0">
              <a:buNone/>
            </a:pPr>
            <a:r>
              <a:rPr lang="en-US" sz="1800" b="1" dirty="0">
                <a:solidFill>
                  <a:schemeClr val="tx1"/>
                </a:solidFill>
              </a:rPr>
              <a:t>From the market</a:t>
            </a:r>
            <a:endParaRPr lang="en-US" sz="1800" dirty="0"/>
          </a:p>
        </p:txBody>
      </p:sp>
      <p:sp>
        <p:nvSpPr>
          <p:cNvPr id="14" name="Text 10"/>
          <p:cNvSpPr txBox="1"/>
          <p:nvPr/>
        </p:nvSpPr>
        <p:spPr>
          <a:xfrm>
            <a:off x="7269480" y="2907792"/>
            <a:ext cx="4297680" cy="685800"/>
          </a:xfrm>
          <a:prstGeom prst="rect">
            <a:avLst/>
          </a:prstGeom>
          <a:noFill/>
          <a:ln/>
        </p:spPr>
        <p:txBody>
          <a:bodyPr wrap="square" lIns="0" tIns="0" rIns="0" bIns="0" rtlCol="0" anchor="t"/>
          <a:lstStyle/>
          <a:p>
            <a:pPr indent="0" marL="0">
              <a:buNone/>
            </a:pPr>
            <a:r>
              <a:rPr lang="en-US" sz="1400" dirty="0">
                <a:solidFill>
                  <a:schemeClr val="tx2"/>
                </a:solidFill>
              </a:rPr>
              <a:t>No nearby rival sells a cardamom bun. Comparable buns cost $5.25 to $7.86+.</a:t>
            </a:r>
            <a:endParaRPr lang="en-US" sz="1400" dirty="0"/>
          </a:p>
        </p:txBody>
      </p:sp>
      <p:sp>
        <p:nvSpPr>
          <p:cNvPr id="15" name="Icon badge Shown with its math"/>
          <p:cNvSpPr/>
          <p:nvPr/>
        </p:nvSpPr>
        <p:spPr>
          <a:xfrm>
            <a:off x="6400800" y="3657600"/>
            <a:ext cx="640080" cy="640080"/>
          </a:xfrm>
          <a:prstGeom prst="ellipse">
            <a:avLst/>
          </a:prstGeom>
          <a:solidFill>
            <a:schemeClr val="accent1"/>
          </a:solidFill>
          <a:ln/>
        </p:spPr>
      </p:sp>
      <p:pic>
        <p:nvPicPr>
          <p:cNvPr id="16" name="Icon Shown with its math" descr="Shown with its math">    </p:cNvPr>
          <p:cNvPicPr>
            <a:picLocks noChangeAspect="1"/>
          </p:cNvPicPr>
          <p:nvPr/>
        </p:nvPicPr>
        <p:blipFill>
          <a:blip r:embed="rId3"/>
          <a:stretch>
            <a:fillRect/>
          </a:stretch>
        </p:blipFill>
        <p:spPr>
          <a:xfrm>
            <a:off x="6567221" y="3824021"/>
            <a:ext cx="307238" cy="307238"/>
          </a:xfrm>
          <a:prstGeom prst="rect">
            <a:avLst/>
          </a:prstGeom>
        </p:spPr>
      </p:pic>
      <p:sp>
        <p:nvSpPr>
          <p:cNvPr id="17" name="Text 12"/>
          <p:cNvSpPr txBox="1"/>
          <p:nvPr/>
        </p:nvSpPr>
        <p:spPr>
          <a:xfrm>
            <a:off x="7269480" y="3657600"/>
            <a:ext cx="4297680" cy="320040"/>
          </a:xfrm>
          <a:prstGeom prst="rect">
            <a:avLst/>
          </a:prstGeom>
          <a:noFill/>
          <a:ln/>
        </p:spPr>
        <p:txBody>
          <a:bodyPr wrap="square" lIns="0" tIns="0" rIns="0" bIns="0" rtlCol="0" anchor="ctr"/>
          <a:lstStyle/>
          <a:p>
            <a:pPr indent="0" marL="0">
              <a:buNone/>
            </a:pPr>
            <a:r>
              <a:rPr lang="en-US" sz="1800" b="1" dirty="0">
                <a:solidFill>
                  <a:schemeClr val="tx1"/>
                </a:solidFill>
              </a:rPr>
              <a:t>Shown with its math</a:t>
            </a:r>
            <a:endParaRPr lang="en-US" sz="1800" dirty="0"/>
          </a:p>
        </p:txBody>
      </p:sp>
      <p:sp>
        <p:nvSpPr>
          <p:cNvPr id="18" name="Text 13"/>
          <p:cNvSpPr txBox="1"/>
          <p:nvPr/>
        </p:nvSpPr>
        <p:spPr>
          <a:xfrm>
            <a:off x="7269480" y="4005072"/>
            <a:ext cx="4297680" cy="685800"/>
          </a:xfrm>
          <a:prstGeom prst="rect">
            <a:avLst/>
          </a:prstGeom>
          <a:noFill/>
          <a:ln/>
        </p:spPr>
        <p:txBody>
          <a:bodyPr wrap="square" lIns="0" tIns="0" rIns="0" bIns="0" rtlCol="0" anchor="t"/>
          <a:lstStyle/>
          <a:p>
            <a:pPr indent="0" marL="0">
              <a:buNone/>
            </a:pPr>
            <a:r>
              <a:rPr lang="en-US" sz="1400" dirty="0">
                <a:solidFill>
                  <a:schemeClr val="tx2"/>
                </a:solidFill>
              </a:rPr>
              <a:t>Assumes only 5 of the 10 extra buns sell: 5 × $5.00 × 22.5 days.</a:t>
            </a:r>
            <a:endParaRPr lang="en-US" sz="1400" dirty="0"/>
          </a:p>
        </p:txBody>
      </p:sp>
      <p:sp>
        <p:nvSpPr>
          <p:cNvPr id="19" name="Impact chip"/>
          <p:cNvSpPr/>
          <p:nvPr/>
        </p:nvSpPr>
        <p:spPr>
          <a:xfrm>
            <a:off x="6400800" y="4800600"/>
            <a:ext cx="5166360" cy="822960"/>
          </a:xfrm>
          <a:prstGeom prst="roundRect">
            <a:avLst>
              <a:gd name="adj" fmla="val 16667"/>
            </a:avLst>
          </a:prstGeom>
          <a:solidFill>
            <a:schemeClr val="accent2"/>
          </a:solidFill>
          <a:ln/>
        </p:spPr>
      </p:sp>
      <p:sp>
        <p:nvSpPr>
          <p:cNvPr id="20" name="Text 15"/>
          <p:cNvSpPr txBox="1"/>
          <p:nvPr/>
        </p:nvSpPr>
        <p:spPr>
          <a:xfrm>
            <a:off x="6675120" y="4846320"/>
            <a:ext cx="4663440" cy="73152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 $562 a month</a:t>
            </a:r>
            <a:endParaRPr lang="en-US" sz="2400" dirty="0"/>
          </a:p>
          <a:p>
            <a:pPr indent="0" marL="0">
              <a:buNone/>
            </a:pPr>
            <a:r>
              <a:rPr lang="en-US" sz="1300" dirty="0">
                <a:solidFill>
                  <a:schemeClr val="tx1"/>
                </a:solidFill>
              </a:rPr>
              <a:t>estimated revenue, not profit · confidence: medium</a:t>
            </a:r>
            <a:endParaRPr lang="en-US" sz="2400" dirty="0"/>
          </a:p>
        </p:txBody>
      </p:sp>
      <p:sp>
        <p:nvSpPr>
          <p:cNvPr id="21" name="Text 16"/>
          <p:cNvSpPr txBox="1"/>
          <p:nvPr/>
        </p:nvSpPr>
        <p:spPr>
          <a:xfrm>
            <a:off x="640080" y="5989320"/>
            <a:ext cx="10881360" cy="228600"/>
          </a:xfrm>
          <a:prstGeom prst="rect">
            <a:avLst/>
          </a:prstGeom>
          <a:noFill/>
          <a:ln/>
        </p:spPr>
        <p:txBody>
          <a:bodyPr wrap="square" lIns="0" tIns="0" rIns="0" bIns="0" rtlCol="0" anchor="ctr"/>
          <a:lstStyle/>
          <a:p>
            <a:pPr indent="0" marL="0">
              <a:buNone/>
            </a:pPr>
            <a:r>
              <a:rPr lang="en-US" sz="1000" dirty="0">
                <a:solidFill>
                  <a:schemeClr val="accent5"/>
                </a:solidFill>
              </a:rPr>
              <a:t>From the sample bakery report (sample sales data). Illustrative estimates; we have not run this experiment.</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t"/>
          <a:lstStyle/>
          <a:p>
            <a:pPr algn="l" indent="0" marL="0">
              <a:buNone/>
            </a:pPr>
            <a:r>
              <a:rPr lang="en-US" sz="4000" b="1" dirty="0">
                <a:solidFill>
                  <a:schemeClr val="bg1"/>
                </a:solidFill>
              </a:rPr>
              <a:t>Under the hood: agents in parallel</a:t>
            </a:r>
            <a:endParaRPr lang="en-US" sz="4000" dirty="0"/>
          </a:p>
        </p:txBody>
      </p:sp>
      <p:sp>
        <p:nvSpPr>
          <p:cNvPr id="3" name="Owner input"/>
          <p:cNvSpPr txBox="1"/>
          <p:nvPr/>
        </p:nvSpPr>
        <p:spPr>
          <a:xfrm>
            <a:off x="640080" y="2240280"/>
            <a:ext cx="1554480" cy="1188720"/>
          </a:xfrm>
          <a:prstGeom prst="roundRect">
            <a:avLst>
              <a:gd name="adj" fmla="val 7692"/>
            </a:avLst>
          </a:prstGeom>
          <a:solidFill>
            <a:schemeClr val="tx2"/>
          </a:solidFill>
          <a:ln w="12700">
            <a:solidFill>
              <a:schemeClr val="accent5"/>
            </a:solidFill>
          </a:ln>
        </p:spPr>
        <p:txBody>
          <a:bodyPr wrap="square" lIns="1016" tIns="1016" rIns="1016" bIns="1016" rtlCol="0" anchor="ctr"/>
          <a:lstStyle/>
          <a:p>
            <a:pPr algn="ctr" indent="0" marL="0">
              <a:buNone/>
            </a:pPr>
            <a:r>
              <a:rPr lang="en-US" sz="1600" b="1" dirty="0">
                <a:solidFill>
                  <a:schemeClr val="bg1"/>
                </a:solidFill>
              </a:rPr>
              <a:t>Owner</a:t>
            </a:r>
            <a:endParaRPr lang="en-US" sz="1400" dirty="0"/>
          </a:p>
          <a:p>
            <a:pPr algn="ctr" indent="0" marL="0">
              <a:buNone/>
            </a:pPr>
            <a:r>
              <a:rPr lang="en-US" sz="1300" dirty="0">
                <a:solidFill>
                  <a:schemeClr val="bg1"/>
                </a:solidFill>
              </a:rPr>
              <a:t>name, area, sales (optional)</a:t>
            </a:r>
            <a:endParaRPr lang="en-US" sz="1400" dirty="0"/>
          </a:p>
        </p:txBody>
      </p:sp>
      <p:sp>
        <p:nvSpPr>
          <p:cNvPr id="4" name="Arrow"/>
          <p:cNvSpPr/>
          <p:nvPr/>
        </p:nvSpPr>
        <p:spPr>
          <a:xfrm>
            <a:off x="2194560" y="2834640"/>
            <a:ext cx="502920" cy="0"/>
          </a:xfrm>
          <a:prstGeom prst="line">
            <a:avLst/>
          </a:prstGeom>
          <a:noFill/>
          <a:ln w="25400">
            <a:solidFill>
              <a:schemeClr val="accent6"/>
            </a:solidFill>
            <a:prstDash val="solid"/>
            <a:tailEnd type="triangle"/>
          </a:ln>
        </p:spPr>
      </p:sp>
      <p:sp>
        <p:nvSpPr>
          <p:cNvPr id="5" name="Advisor group"/>
          <p:cNvSpPr/>
          <p:nvPr/>
        </p:nvSpPr>
        <p:spPr>
          <a:xfrm>
            <a:off x="2697480" y="1554480"/>
            <a:ext cx="3063240" cy="3154680"/>
          </a:xfrm>
          <a:prstGeom prst="roundRect">
            <a:avLst>
              <a:gd name="adj" fmla="val 3582"/>
            </a:avLst>
          </a:prstGeom>
          <a:solidFill>
            <a:schemeClr val="tx2"/>
          </a:solidFill>
          <a:ln w="19050">
            <a:solidFill>
              <a:schemeClr val="accent1"/>
            </a:solidFill>
            <a:prstDash val="solid"/>
          </a:ln>
        </p:spPr>
      </p:sp>
      <p:sp>
        <p:nvSpPr>
          <p:cNvPr id="6" name="Text 4"/>
          <p:cNvSpPr txBox="1"/>
          <p:nvPr/>
        </p:nvSpPr>
        <p:spPr>
          <a:xfrm>
            <a:off x="2880360" y="1645920"/>
            <a:ext cx="2697480" cy="320040"/>
          </a:xfrm>
          <a:prstGeom prst="rect">
            <a:avLst/>
          </a:prstGeom>
          <a:noFill/>
          <a:ln/>
        </p:spPr>
        <p:txBody>
          <a:bodyPr wrap="square" lIns="0" tIns="0" rIns="0" bIns="0" rtlCol="0" anchor="ctr"/>
          <a:lstStyle/>
          <a:p>
            <a:pPr indent="0" marL="0">
              <a:buNone/>
            </a:pPr>
            <a:r>
              <a:rPr lang="en-US" sz="1400" b="1" dirty="0">
                <a:solidFill>
                  <a:schemeClr val="accent2"/>
                </a:solidFill>
              </a:rPr>
              <a:t>Advisor · under a minute</a:t>
            </a:r>
            <a:endParaRPr lang="en-US" sz="1400" dirty="0"/>
          </a:p>
        </p:txBody>
      </p:sp>
      <p:sp>
        <p:nvSpPr>
          <p:cNvPr id="7" name="Competitor agents"/>
          <p:cNvSpPr txBox="1"/>
          <p:nvPr/>
        </p:nvSpPr>
        <p:spPr>
          <a:xfrm>
            <a:off x="2880360" y="2057400"/>
            <a:ext cx="2697480" cy="868680"/>
          </a:xfrm>
          <a:prstGeom prst="roundRect">
            <a:avLst>
              <a:gd name="adj" fmla="val 10526"/>
            </a:avLst>
          </a:prstGeom>
          <a:solidFill>
            <a:schemeClr val="tx1"/>
          </a:solidFill>
          <a:ln w="12700">
            <a:solidFill>
              <a:schemeClr val="accent5"/>
            </a:solidFill>
          </a:ln>
        </p:spPr>
        <p:txBody>
          <a:bodyPr wrap="square" lIns="1016" tIns="1016" rIns="1016" bIns="1016" rtlCol="0" anchor="ctr"/>
          <a:lstStyle/>
          <a:p>
            <a:pPr algn="ctr" indent="0" marL="0">
              <a:buNone/>
            </a:pPr>
            <a:r>
              <a:rPr lang="en-US" sz="1400" dirty="0">
                <a:solidFill>
                  <a:schemeClr val="bg1"/>
                </a:solidFill>
              </a:rPr>
              <a:t>1 agent per competitor, up to 8, all at once</a:t>
            </a:r>
            <a:endParaRPr lang="en-US" sz="1400" dirty="0"/>
          </a:p>
        </p:txBody>
      </p:sp>
      <p:sp>
        <p:nvSpPr>
          <p:cNvPr id="8" name="Presence agent"/>
          <p:cNvSpPr txBox="1"/>
          <p:nvPr/>
        </p:nvSpPr>
        <p:spPr>
          <a:xfrm>
            <a:off x="2880360" y="3017520"/>
            <a:ext cx="2697480" cy="731520"/>
          </a:xfrm>
          <a:prstGeom prst="roundRect">
            <a:avLst>
              <a:gd name="adj" fmla="val 12500"/>
            </a:avLst>
          </a:prstGeom>
          <a:solidFill>
            <a:schemeClr val="tx1"/>
          </a:solidFill>
          <a:ln w="12700">
            <a:solidFill>
              <a:schemeClr val="accent5"/>
            </a:solidFill>
          </a:ln>
        </p:spPr>
        <p:txBody>
          <a:bodyPr wrap="square" lIns="1016" tIns="1016" rIns="1016" bIns="1016" rtlCol="0" anchor="ctr"/>
          <a:lstStyle/>
          <a:p>
            <a:pPr algn="ctr" indent="0" marL="0">
              <a:buNone/>
            </a:pPr>
            <a:r>
              <a:rPr lang="en-US" sz="1400" dirty="0">
                <a:solidFill>
                  <a:schemeClr val="bg1"/>
                </a:solidFill>
              </a:rPr>
              <a:t>The owner's own online presence</a:t>
            </a:r>
            <a:endParaRPr lang="en-US" sz="1400" dirty="0"/>
          </a:p>
        </p:txBody>
      </p:sp>
      <p:sp>
        <p:nvSpPr>
          <p:cNvPr id="9" name="Gaps and trends"/>
          <p:cNvSpPr txBox="1"/>
          <p:nvPr/>
        </p:nvSpPr>
        <p:spPr>
          <a:xfrm>
            <a:off x="2880360" y="3840480"/>
            <a:ext cx="2697480" cy="731520"/>
          </a:xfrm>
          <a:prstGeom prst="roundRect">
            <a:avLst>
              <a:gd name="adj" fmla="val 12500"/>
            </a:avLst>
          </a:prstGeom>
          <a:solidFill>
            <a:schemeClr val="tx1"/>
          </a:solidFill>
          <a:ln w="12700">
            <a:solidFill>
              <a:schemeClr val="accent5"/>
            </a:solidFill>
          </a:ln>
        </p:spPr>
        <p:txBody>
          <a:bodyPr wrap="square" lIns="1016" tIns="1016" rIns="1016" bIns="1016" rtlCol="0" anchor="ctr"/>
          <a:lstStyle/>
          <a:p>
            <a:pPr algn="ctr" indent="0" marL="0">
              <a:buNone/>
            </a:pPr>
            <a:r>
              <a:rPr lang="en-US" sz="1400" dirty="0">
                <a:solidFill>
                  <a:schemeClr val="bg1"/>
                </a:solidFill>
              </a:rPr>
              <a:t>Product gaps and review trends</a:t>
            </a:r>
            <a:endParaRPr lang="en-US" sz="1400" dirty="0"/>
          </a:p>
        </p:txBody>
      </p:sp>
      <p:sp>
        <p:nvSpPr>
          <p:cNvPr id="10" name="Arrow"/>
          <p:cNvSpPr/>
          <p:nvPr/>
        </p:nvSpPr>
        <p:spPr>
          <a:xfrm>
            <a:off x="5760720" y="3108960"/>
            <a:ext cx="411480" cy="0"/>
          </a:xfrm>
          <a:prstGeom prst="line">
            <a:avLst/>
          </a:prstGeom>
          <a:noFill/>
          <a:ln w="25400">
            <a:solidFill>
              <a:schemeClr val="accent6"/>
            </a:solidFill>
            <a:prstDash val="solid"/>
            <a:tailEnd type="triangle"/>
          </a:ln>
        </p:spPr>
      </p:sp>
      <p:sp>
        <p:nvSpPr>
          <p:cNvPr id="11" name="Advice"/>
          <p:cNvSpPr txBox="1"/>
          <p:nvPr/>
        </p:nvSpPr>
        <p:spPr>
          <a:xfrm>
            <a:off x="6172200" y="2377440"/>
            <a:ext cx="1371600" cy="1463040"/>
          </a:xfrm>
          <a:prstGeom prst="roundRect">
            <a:avLst>
              <a:gd name="adj" fmla="val 6667"/>
            </a:avLst>
          </a:prstGeom>
          <a:solidFill>
            <a:schemeClr val="accent1"/>
          </a:solidFill>
          <a:ln/>
        </p:spPr>
        <p:txBody>
          <a:bodyPr wrap="square" lIns="1016" tIns="1016" rIns="1016" bIns="1016" rtlCol="0" anchor="ctr"/>
          <a:lstStyle/>
          <a:p>
            <a:pPr algn="ctr" indent="0" marL="0">
              <a:buNone/>
            </a:pPr>
            <a:r>
              <a:rPr lang="en-US" sz="1600" b="1" dirty="0">
                <a:solidFill>
                  <a:schemeClr val="tx1"/>
                </a:solidFill>
              </a:rPr>
              <a:t>Tailored advice</a:t>
            </a:r>
            <a:endParaRPr lang="en-US" sz="1600" dirty="0"/>
          </a:p>
        </p:txBody>
      </p:sp>
      <p:sp>
        <p:nvSpPr>
          <p:cNvPr id="12" name="Text 10"/>
          <p:cNvSpPr txBox="1"/>
          <p:nvPr/>
        </p:nvSpPr>
        <p:spPr>
          <a:xfrm>
            <a:off x="640080" y="4983480"/>
            <a:ext cx="1280160" cy="457200"/>
          </a:xfrm>
          <a:prstGeom prst="rect">
            <a:avLst/>
          </a:prstGeom>
          <a:noFill/>
          <a:ln/>
        </p:spPr>
        <p:txBody>
          <a:bodyPr wrap="square" lIns="0" tIns="0" rIns="0" bIns="0" rtlCol="0" anchor="ctr"/>
          <a:lstStyle/>
          <a:p>
            <a:pPr indent="0" marL="0">
              <a:buNone/>
            </a:pPr>
            <a:r>
              <a:rPr lang="en-US" sz="1400" dirty="0">
                <a:solidFill>
                  <a:schemeClr val="accent6"/>
                </a:solidFill>
              </a:rPr>
              <a:t>Delivered as</a:t>
            </a:r>
            <a:endParaRPr lang="en-US" sz="1400" dirty="0"/>
          </a:p>
        </p:txBody>
      </p:sp>
      <p:sp>
        <p:nvSpPr>
          <p:cNvPr id="13" name="Delivery app"/>
          <p:cNvSpPr txBox="1"/>
          <p:nvPr/>
        </p:nvSpPr>
        <p:spPr>
          <a:xfrm>
            <a:off x="2011680" y="4983480"/>
            <a:ext cx="1097280" cy="457200"/>
          </a:xfrm>
          <a:prstGeom prst="roundRect">
            <a:avLst>
              <a:gd name="adj" fmla="val 20000"/>
            </a:avLst>
          </a:prstGeom>
          <a:solidFill>
            <a:schemeClr val="tx2"/>
          </a:solidFill>
          <a:ln w="12700">
            <a:solidFill>
              <a:schemeClr val="accent5"/>
            </a:solidFill>
          </a:ln>
        </p:spPr>
        <p:txBody>
          <a:bodyPr wrap="square" lIns="1016" tIns="1016" rIns="1016" bIns="1016" rtlCol="0" anchor="ctr"/>
          <a:lstStyle/>
          <a:p>
            <a:pPr algn="ctr" indent="0" marL="0">
              <a:buNone/>
            </a:pPr>
            <a:r>
              <a:rPr lang="en-US" sz="1400" dirty="0">
                <a:solidFill>
                  <a:schemeClr val="bg1"/>
                </a:solidFill>
              </a:rPr>
              <a:t>App</a:t>
            </a:r>
            <a:endParaRPr lang="en-US" sz="1400" dirty="0"/>
          </a:p>
        </p:txBody>
      </p:sp>
      <p:sp>
        <p:nvSpPr>
          <p:cNvPr id="14" name="Delivery email"/>
          <p:cNvSpPr txBox="1"/>
          <p:nvPr/>
        </p:nvSpPr>
        <p:spPr>
          <a:xfrm>
            <a:off x="3246120" y="4983480"/>
            <a:ext cx="1737360" cy="457200"/>
          </a:xfrm>
          <a:prstGeom prst="roundRect">
            <a:avLst>
              <a:gd name="adj" fmla="val 20000"/>
            </a:avLst>
          </a:prstGeom>
          <a:solidFill>
            <a:schemeClr val="tx2"/>
          </a:solidFill>
          <a:ln w="12700">
            <a:solidFill>
              <a:schemeClr val="accent5"/>
            </a:solidFill>
          </a:ln>
        </p:spPr>
        <p:txBody>
          <a:bodyPr wrap="square" lIns="1016" tIns="1016" rIns="1016" bIns="1016" rtlCol="0" anchor="ctr"/>
          <a:lstStyle/>
          <a:p>
            <a:pPr algn="ctr" indent="0" marL="0">
              <a:buNone/>
            </a:pPr>
            <a:r>
              <a:rPr lang="en-US" sz="1400" dirty="0">
                <a:solidFill>
                  <a:schemeClr val="bg1"/>
                </a:solidFill>
              </a:rPr>
              <a:t>Report email</a:t>
            </a:r>
            <a:endParaRPr lang="en-US" sz="1400" dirty="0"/>
          </a:p>
        </p:txBody>
      </p:sp>
      <p:sp>
        <p:nvSpPr>
          <p:cNvPr id="15" name="Delivery alerts"/>
          <p:cNvSpPr txBox="1"/>
          <p:nvPr/>
        </p:nvSpPr>
        <p:spPr>
          <a:xfrm>
            <a:off x="5120640" y="4983480"/>
            <a:ext cx="2423160" cy="457200"/>
          </a:xfrm>
          <a:prstGeom prst="roundRect">
            <a:avLst>
              <a:gd name="adj" fmla="val 20000"/>
            </a:avLst>
          </a:prstGeom>
          <a:solidFill>
            <a:schemeClr val="tx2"/>
          </a:solidFill>
          <a:ln w="12700">
            <a:solidFill>
              <a:schemeClr val="accent5"/>
            </a:solidFill>
          </a:ln>
        </p:spPr>
        <p:txBody>
          <a:bodyPr wrap="square" lIns="1016" tIns="1016" rIns="1016" bIns="1016" rtlCol="0" anchor="ctr"/>
          <a:lstStyle/>
          <a:p>
            <a:pPr algn="ctr" indent="0" marL="0">
              <a:buNone/>
            </a:pPr>
            <a:r>
              <a:rPr lang="en-US" sz="1400" dirty="0">
                <a:solidFill>
                  <a:schemeClr val="bg1"/>
                </a:solidFill>
              </a:rPr>
              <a:t>Text or email alerts</a:t>
            </a:r>
            <a:endParaRPr lang="en-US" sz="1400" dirty="0"/>
          </a:p>
        </p:txBody>
      </p:sp>
      <p:sp>
        <p:nvSpPr>
          <p:cNvPr id="16" name="Monitor"/>
          <p:cNvSpPr txBox="1"/>
          <p:nvPr/>
        </p:nvSpPr>
        <p:spPr>
          <a:xfrm>
            <a:off x="640080" y="5623560"/>
            <a:ext cx="6903720" cy="548640"/>
          </a:xfrm>
          <a:prstGeom prst="roundRect">
            <a:avLst>
              <a:gd name="adj" fmla="val 16667"/>
            </a:avLst>
          </a:prstGeom>
          <a:solidFill>
            <a:schemeClr val="tx2"/>
          </a:solidFill>
          <a:ln w="15875">
            <a:solidFill>
              <a:schemeClr val="accent4"/>
            </a:solidFill>
          </a:ln>
        </p:spPr>
        <p:txBody>
          <a:bodyPr wrap="square" lIns="1016" tIns="1016" rIns="1016" bIns="1016" rtlCol="0" anchor="ctr"/>
          <a:lstStyle/>
          <a:p>
            <a:pPr algn="ctr" indent="0" marL="0">
              <a:buNone/>
            </a:pPr>
            <a:r>
              <a:rPr lang="en-US" sz="1400" dirty="0">
                <a:solidFill>
                  <a:schemeClr val="bg1"/>
                </a:solidFill>
              </a:rPr>
              <a:t>GitHub Actions monitor · Mon / Wed / Fri · re-check rivals, compare, alert</a:t>
            </a:r>
            <a:endParaRPr lang="en-US" sz="1400" dirty="0"/>
          </a:p>
        </p:txBody>
      </p:sp>
      <p:sp>
        <p:nvSpPr>
          <p:cNvPr id="17" name="Speed card"/>
          <p:cNvSpPr/>
          <p:nvPr/>
        </p:nvSpPr>
        <p:spPr>
          <a:xfrm>
            <a:off x="7955280" y="1554480"/>
            <a:ext cx="3611880" cy="3977640"/>
          </a:xfrm>
          <a:prstGeom prst="roundRect">
            <a:avLst>
              <a:gd name="adj" fmla="val 5063"/>
            </a:avLst>
          </a:prstGeom>
          <a:solidFill>
            <a:schemeClr val="tx2"/>
          </a:solidFill>
          <a:ln/>
        </p:spPr>
      </p:sp>
      <p:sp>
        <p:nvSpPr>
          <p:cNvPr id="18" name="Text 16"/>
          <p:cNvSpPr txBox="1"/>
          <p:nvPr/>
        </p:nvSpPr>
        <p:spPr>
          <a:xfrm>
            <a:off x="8229600" y="169164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Time to a full report</a:t>
            </a:r>
            <a:endParaRPr lang="en-US" sz="1800" dirty="0"/>
          </a:p>
        </p:txBody>
      </p:sp>
      <p:graphicFrame>
        <p:nvGraphicFramePr>
          <p:cNvPr id="19" name="Chart 0" descr=""/>
          <p:cNvGraphicFramePr/>
          <p:nvPr/>
        </p:nvGraphicFramePr>
        <p:xfrm>
          <a:off x="8092440" y="2103120"/>
          <a:ext cx="3337560" cy="265176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8229600" y="4846320"/>
            <a:ext cx="3108960" cy="502920"/>
          </a:xfrm>
          <a:prstGeom prst="rect">
            <a:avLst/>
          </a:prstGeom>
          <a:noFill/>
          <a:ln/>
        </p:spPr>
        <p:txBody>
          <a:bodyPr wrap="square" lIns="0" tIns="0" rIns="0" bIns="0" rtlCol="0" anchor="ctr"/>
          <a:lstStyle/>
          <a:p>
            <a:pPr indent="0" marL="0">
              <a:buNone/>
            </a:pPr>
            <a:r>
              <a:rPr lang="en-US" sz="2400" b="1" dirty="0">
                <a:solidFill>
                  <a:schemeClr val="accent2"/>
                </a:solidFill>
                <a:latin typeface="+mj-lt" pitchFamily="34" charset="0"/>
                <a:ea typeface="+mj-lt" pitchFamily="34" charset="-122"/>
                <a:cs typeface="+mj-lt" pitchFamily="34" charset="-120"/>
              </a:rPr>
              <a:t>About 4× faster</a:t>
            </a:r>
            <a:endParaRPr lang="en-US" sz="2400" dirty="0"/>
          </a:p>
        </p:txBody>
      </p:sp>
      <p:sp>
        <p:nvSpPr>
          <p:cNvPr id="21" name="Text 18"/>
          <p:cNvSpPr txBox="1"/>
          <p:nvPr/>
        </p:nvSpPr>
        <p:spPr>
          <a:xfrm>
            <a:off x="7955280" y="5623560"/>
            <a:ext cx="3611880" cy="548640"/>
          </a:xfrm>
          <a:prstGeom prst="rect">
            <a:avLst/>
          </a:prstGeom>
          <a:noFill/>
          <a:ln/>
        </p:spPr>
        <p:txBody>
          <a:bodyPr wrap="square" lIns="0" tIns="0" rIns="0" bIns="0" rtlCol="0" anchor="t"/>
          <a:lstStyle/>
          <a:p>
            <a:pPr indent="0" marL="0">
              <a:buNone/>
            </a:pPr>
            <a:r>
              <a:rPr lang="en-US" sz="1100" dirty="0">
                <a:solidFill>
                  <a:schemeClr val="accent6"/>
                </a:solidFill>
              </a:rPr>
              <a:t>Measured on one sample bakery over a few runs: 172 s before, about 40 s now.</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t"/>
          <a:lstStyle/>
          <a:p>
            <a:pPr algn="l" indent="0" marL="0">
              <a:buNone/>
            </a:pPr>
            <a:r>
              <a:rPr lang="en-US" sz="4000" b="1" dirty="0">
                <a:solidFill>
                  <a:schemeClr val="tx1"/>
                </a:solidFill>
              </a:rPr>
              <a:t>Built to be trusted</a:t>
            </a:r>
            <a:endParaRPr lang="en-US" sz="4000" dirty="0"/>
          </a:p>
        </p:txBody>
      </p:sp>
      <p:sp>
        <p:nvSpPr>
          <p:cNvPr id="3" name="Trust card 1"/>
          <p:cNvSpPr/>
          <p:nvPr/>
        </p:nvSpPr>
        <p:spPr>
          <a:xfrm>
            <a:off x="640080" y="1737360"/>
            <a:ext cx="5349240" cy="1920240"/>
          </a:xfrm>
          <a:prstGeom prst="roundRect">
            <a:avLst>
              <a:gd name="adj" fmla="val 8571"/>
            </a:avLst>
          </a:prstGeom>
          <a:solidFill>
            <a:schemeClr val="bg2"/>
          </a:solidFill>
          <a:ln/>
          <a:effectLst>
            <a:outerShdw sx="100000" sy="100000" kx="0" ky="0" algn="bl" rotWithShape="0" blurRad="177800" dist="38100" dir="5400000">
              <a:srgbClr val="000000">
                <a:alpha val="20000"/>
              </a:srgbClr>
            </a:outerShdw>
          </a:effectLst>
        </p:spPr>
      </p:sp>
      <p:sp>
        <p:nvSpPr>
          <p:cNvPr id="4" name="Icon badge Sources on every claim"/>
          <p:cNvSpPr/>
          <p:nvPr/>
        </p:nvSpPr>
        <p:spPr>
          <a:xfrm>
            <a:off x="960120" y="2057400"/>
            <a:ext cx="731520" cy="731520"/>
          </a:xfrm>
          <a:prstGeom prst="ellipse">
            <a:avLst/>
          </a:prstGeom>
          <a:solidFill>
            <a:schemeClr val="accent1"/>
          </a:solidFill>
          <a:ln/>
        </p:spPr>
      </p:sp>
      <p:pic>
        <p:nvPicPr>
          <p:cNvPr id="5" name="Icon Sources on every claim" descr="Sources on every claim">    </p:cNvPr>
          <p:cNvPicPr>
            <a:picLocks noChangeAspect="1"/>
          </p:cNvPicPr>
          <p:nvPr/>
        </p:nvPicPr>
        <p:blipFill>
          <a:blip r:embed="rId1"/>
          <a:stretch>
            <a:fillRect/>
          </a:stretch>
        </p:blipFill>
        <p:spPr>
          <a:xfrm>
            <a:off x="1150315" y="2247595"/>
            <a:ext cx="351130" cy="351130"/>
          </a:xfrm>
          <a:prstGeom prst="rect">
            <a:avLst/>
          </a:prstGeom>
        </p:spPr>
      </p:pic>
      <p:sp>
        <p:nvSpPr>
          <p:cNvPr id="6" name="Text 3"/>
          <p:cNvSpPr txBox="1"/>
          <p:nvPr/>
        </p:nvSpPr>
        <p:spPr>
          <a:xfrm>
            <a:off x="1920240" y="2057400"/>
            <a:ext cx="3840480" cy="411480"/>
          </a:xfrm>
          <a:prstGeom prst="rect">
            <a:avLst/>
          </a:prstGeom>
          <a:noFill/>
          <a:ln/>
        </p:spPr>
        <p:txBody>
          <a:bodyPr wrap="square" lIns="0" tIns="0" rIns="0" bIns="0" rtlCol="0" anchor="ctr"/>
          <a:lstStyle/>
          <a:p>
            <a:pPr indent="0" marL="0">
              <a:buNone/>
            </a:pPr>
            <a:r>
              <a:rPr lang="en-US" sz="2000" b="1" dirty="0">
                <a:solidFill>
                  <a:schemeClr val="tx1"/>
                </a:solidFill>
              </a:rPr>
              <a:t>Sources on every claim</a:t>
            </a:r>
            <a:endParaRPr lang="en-US" sz="2000" dirty="0"/>
          </a:p>
        </p:txBody>
      </p:sp>
      <p:sp>
        <p:nvSpPr>
          <p:cNvPr id="7" name="Text 4"/>
          <p:cNvSpPr txBox="1"/>
          <p:nvPr/>
        </p:nvSpPr>
        <p:spPr>
          <a:xfrm>
            <a:off x="1920240" y="2514600"/>
            <a:ext cx="3840480" cy="1143000"/>
          </a:xfrm>
          <a:prstGeom prst="rect">
            <a:avLst/>
          </a:prstGeom>
          <a:noFill/>
          <a:ln/>
        </p:spPr>
        <p:txBody>
          <a:bodyPr wrap="square" lIns="0" tIns="0" rIns="0" bIns="0" rtlCol="0" anchor="t"/>
          <a:lstStyle/>
          <a:p>
            <a:pPr indent="0" marL="0">
              <a:buNone/>
            </a:pPr>
            <a:r>
              <a:rPr lang="en-US" sz="1500" dirty="0">
                <a:solidFill>
                  <a:schemeClr val="tx2"/>
                </a:solidFill>
              </a:rPr>
              <a:t>Each competitor entry carries the links it came from, so owners can check the evidence.</a:t>
            </a:r>
            <a:endParaRPr lang="en-US" sz="1500" dirty="0"/>
          </a:p>
        </p:txBody>
      </p:sp>
      <p:sp>
        <p:nvSpPr>
          <p:cNvPr id="8" name="Trust card 2"/>
          <p:cNvSpPr/>
          <p:nvPr/>
        </p:nvSpPr>
        <p:spPr>
          <a:xfrm>
            <a:off x="6217920" y="1737360"/>
            <a:ext cx="5349240" cy="1920240"/>
          </a:xfrm>
          <a:prstGeom prst="roundRect">
            <a:avLst>
              <a:gd name="adj" fmla="val 8571"/>
            </a:avLst>
          </a:prstGeom>
          <a:solidFill>
            <a:schemeClr val="bg2"/>
          </a:solidFill>
          <a:ln/>
          <a:effectLst>
            <a:outerShdw sx="100000" sy="100000" kx="0" ky="0" algn="bl" rotWithShape="0" blurRad="177800" dist="38100" dir="5400000">
              <a:srgbClr val="000000">
                <a:alpha val="20000"/>
              </a:srgbClr>
            </a:outerShdw>
          </a:effectLst>
        </p:spPr>
      </p:sp>
      <p:sp>
        <p:nvSpPr>
          <p:cNvPr id="9" name="Icon badge Never guessed"/>
          <p:cNvSpPr/>
          <p:nvPr/>
        </p:nvSpPr>
        <p:spPr>
          <a:xfrm>
            <a:off x="6537960" y="2057400"/>
            <a:ext cx="731520" cy="731520"/>
          </a:xfrm>
          <a:prstGeom prst="ellipse">
            <a:avLst/>
          </a:prstGeom>
          <a:solidFill>
            <a:schemeClr val="accent1"/>
          </a:solidFill>
          <a:ln/>
        </p:spPr>
      </p:sp>
      <p:pic>
        <p:nvPicPr>
          <p:cNvPr id="10" name="Icon Never guessed" descr="Never guessed">    </p:cNvPr>
          <p:cNvPicPr>
            <a:picLocks noChangeAspect="1"/>
          </p:cNvPicPr>
          <p:nvPr/>
        </p:nvPicPr>
        <p:blipFill>
          <a:blip r:embed="rId2"/>
          <a:stretch>
            <a:fillRect/>
          </a:stretch>
        </p:blipFill>
        <p:spPr>
          <a:xfrm>
            <a:off x="6728155" y="2247595"/>
            <a:ext cx="351130" cy="351130"/>
          </a:xfrm>
          <a:prstGeom prst="rect">
            <a:avLst/>
          </a:prstGeom>
        </p:spPr>
      </p:pic>
      <p:sp>
        <p:nvSpPr>
          <p:cNvPr id="11" name="Text 7"/>
          <p:cNvSpPr txBox="1"/>
          <p:nvPr/>
        </p:nvSpPr>
        <p:spPr>
          <a:xfrm>
            <a:off x="7498080" y="2057400"/>
            <a:ext cx="3840480" cy="411480"/>
          </a:xfrm>
          <a:prstGeom prst="rect">
            <a:avLst/>
          </a:prstGeom>
          <a:noFill/>
          <a:ln/>
        </p:spPr>
        <p:txBody>
          <a:bodyPr wrap="square" lIns="0" tIns="0" rIns="0" bIns="0" rtlCol="0" anchor="ctr"/>
          <a:lstStyle/>
          <a:p>
            <a:pPr indent="0" marL="0">
              <a:buNone/>
            </a:pPr>
            <a:r>
              <a:rPr lang="en-US" sz="2000" b="1" dirty="0">
                <a:solidFill>
                  <a:schemeClr val="tx1"/>
                </a:solidFill>
              </a:rPr>
              <a:t>Never guessed</a:t>
            </a:r>
            <a:endParaRPr lang="en-US" sz="2000" dirty="0"/>
          </a:p>
        </p:txBody>
      </p:sp>
      <p:sp>
        <p:nvSpPr>
          <p:cNvPr id="12" name="Text 8"/>
          <p:cNvSpPr txBox="1"/>
          <p:nvPr/>
        </p:nvSpPr>
        <p:spPr>
          <a:xfrm>
            <a:off x="7498080" y="2514600"/>
            <a:ext cx="3840480" cy="1143000"/>
          </a:xfrm>
          <a:prstGeom prst="rect">
            <a:avLst/>
          </a:prstGeom>
          <a:noFill/>
          <a:ln/>
        </p:spPr>
        <p:txBody>
          <a:bodyPr wrap="square" lIns="0" tIns="0" rIns="0" bIns="0" rtlCol="0" anchor="t"/>
          <a:lstStyle/>
          <a:p>
            <a:pPr indent="0" marL="0">
              <a:buNone/>
            </a:pPr>
            <a:r>
              <a:rPr lang="en-US" sz="1500" dirty="0">
                <a:solidFill>
                  <a:schemeClr val="tx2"/>
                </a:solidFill>
              </a:rPr>
              <a:t>Missing data stays blank and is listed as a caveat. Without sales data, dollar estimates are left out.</a:t>
            </a:r>
            <a:endParaRPr lang="en-US" sz="1500" dirty="0"/>
          </a:p>
        </p:txBody>
      </p:sp>
      <p:sp>
        <p:nvSpPr>
          <p:cNvPr id="13" name="Trust card 3"/>
          <p:cNvSpPr/>
          <p:nvPr/>
        </p:nvSpPr>
        <p:spPr>
          <a:xfrm>
            <a:off x="640080" y="3886200"/>
            <a:ext cx="5349240" cy="1920240"/>
          </a:xfrm>
          <a:prstGeom prst="roundRect">
            <a:avLst>
              <a:gd name="adj" fmla="val 8571"/>
            </a:avLst>
          </a:prstGeom>
          <a:solidFill>
            <a:schemeClr val="bg2"/>
          </a:solidFill>
          <a:ln/>
          <a:effectLst>
            <a:outerShdw sx="100000" sy="100000" kx="0" ky="0" algn="bl" rotWithShape="0" blurRad="177800" dist="38100" dir="5400000">
              <a:srgbClr val="000000">
                <a:alpha val="20000"/>
              </a:srgbClr>
            </a:outerShdw>
          </a:effectLst>
        </p:spPr>
      </p:sp>
      <p:sp>
        <p:nvSpPr>
          <p:cNvPr id="14" name="Icon badge Private by design"/>
          <p:cNvSpPr/>
          <p:nvPr/>
        </p:nvSpPr>
        <p:spPr>
          <a:xfrm>
            <a:off x="960120" y="4206240"/>
            <a:ext cx="731520" cy="731520"/>
          </a:xfrm>
          <a:prstGeom prst="ellipse">
            <a:avLst/>
          </a:prstGeom>
          <a:solidFill>
            <a:schemeClr val="accent1"/>
          </a:solidFill>
          <a:ln/>
        </p:spPr>
      </p:sp>
      <p:pic>
        <p:nvPicPr>
          <p:cNvPr id="15" name="Icon Private by design" descr="Private by design">    </p:cNvPr>
          <p:cNvPicPr>
            <a:picLocks noChangeAspect="1"/>
          </p:cNvPicPr>
          <p:nvPr/>
        </p:nvPicPr>
        <p:blipFill>
          <a:blip r:embed="rId3"/>
          <a:stretch>
            <a:fillRect/>
          </a:stretch>
        </p:blipFill>
        <p:spPr>
          <a:xfrm>
            <a:off x="1150315" y="4396435"/>
            <a:ext cx="351130" cy="351130"/>
          </a:xfrm>
          <a:prstGeom prst="rect">
            <a:avLst/>
          </a:prstGeom>
        </p:spPr>
      </p:pic>
      <p:sp>
        <p:nvSpPr>
          <p:cNvPr id="16" name="Text 11"/>
          <p:cNvSpPr txBox="1"/>
          <p:nvPr/>
        </p:nvSpPr>
        <p:spPr>
          <a:xfrm>
            <a:off x="1920240" y="4206240"/>
            <a:ext cx="3840480" cy="411480"/>
          </a:xfrm>
          <a:prstGeom prst="rect">
            <a:avLst/>
          </a:prstGeom>
          <a:noFill/>
          <a:ln/>
        </p:spPr>
        <p:txBody>
          <a:bodyPr wrap="square" lIns="0" tIns="0" rIns="0" bIns="0" rtlCol="0" anchor="ctr"/>
          <a:lstStyle/>
          <a:p>
            <a:pPr indent="0" marL="0">
              <a:buNone/>
            </a:pPr>
            <a:r>
              <a:rPr lang="en-US" sz="2000" b="1" dirty="0">
                <a:solidFill>
                  <a:schemeClr val="tx1"/>
                </a:solidFill>
              </a:rPr>
              <a:t>Private by design</a:t>
            </a:r>
            <a:endParaRPr lang="en-US" sz="2000" dirty="0"/>
          </a:p>
        </p:txBody>
      </p:sp>
      <p:sp>
        <p:nvSpPr>
          <p:cNvPr id="17" name="Text 12"/>
          <p:cNvSpPr txBox="1"/>
          <p:nvPr/>
        </p:nvSpPr>
        <p:spPr>
          <a:xfrm>
            <a:off x="1920240" y="4663440"/>
            <a:ext cx="3840480" cy="1143000"/>
          </a:xfrm>
          <a:prstGeom prst="rect">
            <a:avLst/>
          </a:prstGeom>
          <a:noFill/>
          <a:ln/>
        </p:spPr>
        <p:txBody>
          <a:bodyPr wrap="square" lIns="0" tIns="0" rIns="0" bIns="0" rtlCol="0" anchor="t"/>
          <a:lstStyle/>
          <a:p>
            <a:pPr indent="0" marL="0">
              <a:buNone/>
            </a:pPr>
            <a:r>
              <a:rPr lang="en-US" sz="1500" dirty="0">
                <a:solidFill>
                  <a:schemeClr val="tx2"/>
                </a:solidFill>
              </a:rPr>
              <a:t>Picks are stored anonymously: no user id, IP or device. API keys stay on the server.</a:t>
            </a:r>
            <a:endParaRPr lang="en-US" sz="1500" dirty="0"/>
          </a:p>
        </p:txBody>
      </p:sp>
      <p:sp>
        <p:nvSpPr>
          <p:cNvPr id="18" name="Trust card 4"/>
          <p:cNvSpPr/>
          <p:nvPr/>
        </p:nvSpPr>
        <p:spPr>
          <a:xfrm>
            <a:off x="6217920" y="3886200"/>
            <a:ext cx="5349240" cy="1920240"/>
          </a:xfrm>
          <a:prstGeom prst="roundRect">
            <a:avLst>
              <a:gd name="adj" fmla="val 8571"/>
            </a:avLst>
          </a:prstGeom>
          <a:solidFill>
            <a:schemeClr val="bg2"/>
          </a:solidFill>
          <a:ln/>
          <a:effectLst>
            <a:outerShdw sx="100000" sy="100000" kx="0" ky="0" algn="bl" rotWithShape="0" blurRad="177800" dist="38100" dir="5400000">
              <a:srgbClr val="000000">
                <a:alpha val="20000"/>
              </a:srgbClr>
            </a:outerShdw>
          </a:effectLst>
        </p:spPr>
      </p:sp>
      <p:sp>
        <p:nvSpPr>
          <p:cNvPr id="19" name="Icon badge Safe email"/>
          <p:cNvSpPr/>
          <p:nvPr/>
        </p:nvSpPr>
        <p:spPr>
          <a:xfrm>
            <a:off x="6537960" y="4206240"/>
            <a:ext cx="731520" cy="731520"/>
          </a:xfrm>
          <a:prstGeom prst="ellipse">
            <a:avLst/>
          </a:prstGeom>
          <a:solidFill>
            <a:schemeClr val="accent1"/>
          </a:solidFill>
          <a:ln/>
        </p:spPr>
      </p:sp>
      <p:pic>
        <p:nvPicPr>
          <p:cNvPr id="20" name="Icon Safe email" descr="Safe email">    </p:cNvPr>
          <p:cNvPicPr>
            <a:picLocks noChangeAspect="1"/>
          </p:cNvPicPr>
          <p:nvPr/>
        </p:nvPicPr>
        <p:blipFill>
          <a:blip r:embed="rId4"/>
          <a:stretch>
            <a:fillRect/>
          </a:stretch>
        </p:blipFill>
        <p:spPr>
          <a:xfrm>
            <a:off x="6728155" y="4396435"/>
            <a:ext cx="351130" cy="351130"/>
          </a:xfrm>
          <a:prstGeom prst="rect">
            <a:avLst/>
          </a:prstGeom>
        </p:spPr>
      </p:pic>
      <p:sp>
        <p:nvSpPr>
          <p:cNvPr id="21" name="Text 15"/>
          <p:cNvSpPr txBox="1"/>
          <p:nvPr/>
        </p:nvSpPr>
        <p:spPr>
          <a:xfrm>
            <a:off x="7498080" y="4206240"/>
            <a:ext cx="3840480" cy="411480"/>
          </a:xfrm>
          <a:prstGeom prst="rect">
            <a:avLst/>
          </a:prstGeom>
          <a:noFill/>
          <a:ln/>
        </p:spPr>
        <p:txBody>
          <a:bodyPr wrap="square" lIns="0" tIns="0" rIns="0" bIns="0" rtlCol="0" anchor="ctr"/>
          <a:lstStyle/>
          <a:p>
            <a:pPr indent="0" marL="0">
              <a:buNone/>
            </a:pPr>
            <a:r>
              <a:rPr lang="en-US" sz="2000" b="1" dirty="0">
                <a:solidFill>
                  <a:schemeClr val="tx1"/>
                </a:solidFill>
              </a:rPr>
              <a:t>Safe email</a:t>
            </a:r>
            <a:endParaRPr lang="en-US" sz="2000" dirty="0"/>
          </a:p>
        </p:txBody>
      </p:sp>
      <p:sp>
        <p:nvSpPr>
          <p:cNvPr id="22" name="Text 16"/>
          <p:cNvSpPr txBox="1"/>
          <p:nvPr/>
        </p:nvSpPr>
        <p:spPr>
          <a:xfrm>
            <a:off x="7498080" y="4663440"/>
            <a:ext cx="3840480" cy="1143000"/>
          </a:xfrm>
          <a:prstGeom prst="rect">
            <a:avLst/>
          </a:prstGeom>
          <a:noFill/>
          <a:ln/>
        </p:spPr>
        <p:txBody>
          <a:bodyPr wrap="square" lIns="0" tIns="0" rIns="0" bIns="0" rtlCol="0" anchor="t"/>
          <a:lstStyle/>
          <a:p>
            <a:pPr indent="0" marL="0">
              <a:buNone/>
            </a:pPr>
            <a:r>
              <a:rPr lang="en-US" sz="1500" dirty="0">
                <a:solidFill>
                  <a:schemeClr val="tx2"/>
                </a:solidFill>
              </a:rPr>
              <a:t>One recipient per report, HTML-escaped, rate-limited, with no tracking links.</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68680"/>
          </a:xfrm>
          <a:prstGeom prst="rect">
            <a:avLst/>
          </a:prstGeom>
          <a:noFill/>
          <a:ln/>
        </p:spPr>
        <p:txBody>
          <a:bodyPr wrap="square" lIns="0" tIns="0" rIns="0" bIns="0" rtlCol="0" anchor="t"/>
          <a:lstStyle/>
          <a:p>
            <a:pPr algn="l" indent="0" marL="0">
              <a:buNone/>
            </a:pPr>
            <a:r>
              <a:rPr lang="en-US" sz="4000" b="1" dirty="0">
                <a:solidFill>
                  <a:schemeClr val="bg1"/>
                </a:solidFill>
              </a:rPr>
              <a:t>Why it matters, and what's next</a:t>
            </a:r>
            <a:endParaRPr lang="en-US" sz="4000" dirty="0"/>
          </a:p>
        </p:txBody>
      </p:sp>
      <p:sp>
        <p:nvSpPr>
          <p:cNvPr id="3" name="Text 1"/>
          <p:cNvSpPr txBox="1"/>
          <p:nvPr/>
        </p:nvSpPr>
        <p:spPr>
          <a:xfrm>
            <a:off x="640080" y="1508760"/>
            <a:ext cx="5303520" cy="1554480"/>
          </a:xfrm>
          <a:prstGeom prst="rect">
            <a:avLst/>
          </a:prstGeom>
          <a:noFill/>
          <a:ln/>
        </p:spPr>
        <p:txBody>
          <a:bodyPr wrap="square" lIns="0" tIns="0" rIns="0" bIns="0" rtlCol="0" anchor="ctr"/>
          <a:lstStyle/>
          <a:p>
            <a:pPr indent="0" marL="0">
              <a:buNone/>
            </a:pPr>
            <a:r>
              <a:rPr lang="en-US" sz="11000" b="1" dirty="0">
                <a:solidFill>
                  <a:schemeClr val="accent2"/>
                </a:solidFill>
                <a:latin typeface="+mj-lt" pitchFamily="34" charset="0"/>
                <a:ea typeface="+mj-lt" pitchFamily="34" charset="-122"/>
                <a:cs typeface="+mj-lt" pitchFamily="34" charset="-120"/>
              </a:rPr>
              <a:t>696K</a:t>
            </a:r>
            <a:endParaRPr lang="en-US" sz="11000" dirty="0"/>
          </a:p>
        </p:txBody>
      </p:sp>
      <p:sp>
        <p:nvSpPr>
          <p:cNvPr id="4" name="Text 2"/>
          <p:cNvSpPr txBox="1"/>
          <p:nvPr/>
        </p:nvSpPr>
        <p:spPr>
          <a:xfrm>
            <a:off x="640080" y="3108960"/>
            <a:ext cx="5120640" cy="868680"/>
          </a:xfrm>
          <a:prstGeom prst="rect">
            <a:avLst/>
          </a:prstGeom>
          <a:noFill/>
          <a:ln/>
        </p:spPr>
        <p:txBody>
          <a:bodyPr wrap="square" lIns="0" tIns="0" rIns="0" bIns="0" rtlCol="0" anchor="t"/>
          <a:lstStyle/>
          <a:p>
            <a:pPr indent="0" marL="0">
              <a:buNone/>
            </a:pPr>
            <a:r>
              <a:rPr lang="en-US" sz="2000" dirty="0">
                <a:solidFill>
                  <a:schemeClr val="bg1"/>
                </a:solidFill>
              </a:rPr>
              <a:t>small businesses in Washington, employing 1.5 million people</a:t>
            </a:r>
            <a:endParaRPr lang="en-US" sz="2000" dirty="0"/>
          </a:p>
        </p:txBody>
      </p:sp>
      <p:sp>
        <p:nvSpPr>
          <p:cNvPr id="5" name="Optimism card"/>
          <p:cNvSpPr/>
          <p:nvPr/>
        </p:nvSpPr>
        <p:spPr>
          <a:xfrm>
            <a:off x="640080" y="4206240"/>
            <a:ext cx="5212080" cy="1325880"/>
          </a:xfrm>
          <a:prstGeom prst="roundRect">
            <a:avLst>
              <a:gd name="adj" fmla="val 10345"/>
            </a:avLst>
          </a:prstGeom>
          <a:solidFill>
            <a:schemeClr val="tx2"/>
          </a:solidFill>
          <a:ln/>
        </p:spPr>
      </p:sp>
      <p:sp>
        <p:nvSpPr>
          <p:cNvPr id="6" name="Text 4"/>
          <p:cNvSpPr txBox="1"/>
          <p:nvPr/>
        </p:nvSpPr>
        <p:spPr>
          <a:xfrm>
            <a:off x="914400" y="4343400"/>
            <a:ext cx="4663440" cy="1051560"/>
          </a:xfrm>
          <a:prstGeom prst="rect">
            <a:avLst/>
          </a:prstGeom>
          <a:noFill/>
          <a:ln/>
        </p:spPr>
        <p:txBody>
          <a:bodyPr wrap="square" lIns="0" tIns="0" rIns="0" bIns="0" rtlCol="0" anchor="ctr"/>
          <a:lstStyle/>
          <a:p>
            <a:pPr indent="0" marL="0">
              <a:buNone/>
            </a:pPr>
            <a:r>
              <a:rPr lang="en-US" sz="1600" dirty="0">
                <a:solidFill>
                  <a:schemeClr val="accent6"/>
                </a:solidFill>
              </a:rPr>
              <a:t>Their optimism trails the nation, 94.5 vs 98.5. Local shops need every edge they can get.</a:t>
            </a:r>
            <a:endParaRPr lang="en-US" sz="1600" dirty="0"/>
          </a:p>
        </p:txBody>
      </p:sp>
      <p:sp>
        <p:nvSpPr>
          <p:cNvPr id="7" name="Text 5"/>
          <p:cNvSpPr txBox="1"/>
          <p:nvPr/>
        </p:nvSpPr>
        <p:spPr>
          <a:xfrm>
            <a:off x="640080" y="6144768"/>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Source: NFIB Small Business Economic Trends, Washington, Winter 2026</a:t>
            </a:r>
            <a:endParaRPr lang="en-US" sz="1000" dirty="0"/>
          </a:p>
        </p:txBody>
      </p:sp>
      <p:sp>
        <p:nvSpPr>
          <p:cNvPr id="8" name="Text 6"/>
          <p:cNvSpPr txBox="1"/>
          <p:nvPr/>
        </p:nvSpPr>
        <p:spPr>
          <a:xfrm>
            <a:off x="6583680" y="1508760"/>
            <a:ext cx="5029200" cy="50292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Next: a local-owner pilot</a:t>
            </a:r>
            <a:endParaRPr lang="en-US" sz="2600" dirty="0"/>
          </a:p>
        </p:txBody>
      </p:sp>
      <p:sp>
        <p:nvSpPr>
          <p:cNvPr id="9" name="Text 7"/>
          <p:cNvSpPr txBox="1"/>
          <p:nvPr/>
        </p:nvSpPr>
        <p:spPr>
          <a:xfrm>
            <a:off x="6583680" y="2103120"/>
            <a:ext cx="4937760" cy="320040"/>
          </a:xfrm>
          <a:prstGeom prst="rect">
            <a:avLst/>
          </a:prstGeom>
          <a:noFill/>
          <a:ln/>
        </p:spPr>
        <p:txBody>
          <a:bodyPr wrap="square" lIns="0" tIns="0" rIns="0" bIns="0" rtlCol="0" anchor="ctr"/>
          <a:lstStyle/>
          <a:p>
            <a:pPr indent="0" marL="0">
              <a:buNone/>
            </a:pPr>
            <a:r>
              <a:rPr lang="en-US" sz="1400" b="1" spc="200" kern="0" dirty="0">
                <a:solidFill>
                  <a:schemeClr val="accent6"/>
                </a:solidFill>
              </a:rPr>
              <a:t>We will measure</a:t>
            </a:r>
            <a:endParaRPr lang="en-US" sz="1400" dirty="0"/>
          </a:p>
        </p:txBody>
      </p:sp>
      <p:sp>
        <p:nvSpPr>
          <p:cNvPr id="10" name="Step 1"/>
          <p:cNvSpPr txBox="1"/>
          <p:nvPr/>
        </p:nvSpPr>
        <p:spPr>
          <a:xfrm>
            <a:off x="6583680" y="256032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11" name="Text 9"/>
          <p:cNvSpPr txBox="1"/>
          <p:nvPr/>
        </p:nvSpPr>
        <p:spPr>
          <a:xfrm>
            <a:off x="7360920" y="2514600"/>
            <a:ext cx="4206240" cy="640080"/>
          </a:xfrm>
          <a:prstGeom prst="rect">
            <a:avLst/>
          </a:prstGeom>
          <a:noFill/>
          <a:ln/>
        </p:spPr>
        <p:txBody>
          <a:bodyPr wrap="square" lIns="0" tIns="0" rIns="0" bIns="0" rtlCol="0" anchor="ctr"/>
          <a:lstStyle/>
          <a:p>
            <a:pPr indent="0" marL="0">
              <a:buNone/>
            </a:pPr>
            <a:r>
              <a:rPr lang="en-US" sz="1800" dirty="0">
                <a:solidFill>
                  <a:schemeClr val="bg1"/>
                </a:solidFill>
              </a:rPr>
              <a:t>Research time saved</a:t>
            </a:r>
            <a:endParaRPr lang="en-US" sz="1800" dirty="0"/>
          </a:p>
        </p:txBody>
      </p:sp>
      <p:sp>
        <p:nvSpPr>
          <p:cNvPr id="12" name="Step 2"/>
          <p:cNvSpPr txBox="1"/>
          <p:nvPr/>
        </p:nvSpPr>
        <p:spPr>
          <a:xfrm>
            <a:off x="6583680" y="333756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3" name="Text 11"/>
          <p:cNvSpPr txBox="1"/>
          <p:nvPr/>
        </p:nvSpPr>
        <p:spPr>
          <a:xfrm>
            <a:off x="7360920" y="3291840"/>
            <a:ext cx="4206240" cy="640080"/>
          </a:xfrm>
          <a:prstGeom prst="rect">
            <a:avLst/>
          </a:prstGeom>
          <a:noFill/>
          <a:ln/>
        </p:spPr>
        <p:txBody>
          <a:bodyPr wrap="square" lIns="0" tIns="0" rIns="0" bIns="0" rtlCol="0" anchor="ctr"/>
          <a:lstStyle/>
          <a:p>
            <a:pPr indent="0" marL="0">
              <a:buNone/>
            </a:pPr>
            <a:r>
              <a:rPr lang="en-US" sz="1800" dirty="0">
                <a:solidFill>
                  <a:schemeClr val="bg1"/>
                </a:solidFill>
              </a:rPr>
              <a:t>Recommendations owners act on</a:t>
            </a:r>
            <a:endParaRPr lang="en-US" sz="1800" dirty="0"/>
          </a:p>
        </p:txBody>
      </p:sp>
      <p:sp>
        <p:nvSpPr>
          <p:cNvPr id="14" name="Step 3"/>
          <p:cNvSpPr txBox="1"/>
          <p:nvPr/>
        </p:nvSpPr>
        <p:spPr>
          <a:xfrm>
            <a:off x="6583680" y="4114800"/>
            <a:ext cx="548640" cy="54864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5" name="Text 13"/>
          <p:cNvSpPr txBox="1"/>
          <p:nvPr/>
        </p:nvSpPr>
        <p:spPr>
          <a:xfrm>
            <a:off x="7360920" y="4069080"/>
            <a:ext cx="4206240" cy="640080"/>
          </a:xfrm>
          <a:prstGeom prst="rect">
            <a:avLst/>
          </a:prstGeom>
          <a:noFill/>
          <a:ln/>
        </p:spPr>
        <p:txBody>
          <a:bodyPr wrap="square" lIns="0" tIns="0" rIns="0" bIns="0" rtlCol="0" anchor="ctr"/>
          <a:lstStyle/>
          <a:p>
            <a:pPr indent="0" marL="0">
              <a:buNone/>
            </a:pPr>
            <a:r>
              <a:rPr lang="en-US" sz="1800" dirty="0">
                <a:solidFill>
                  <a:schemeClr val="bg1"/>
                </a:solidFill>
              </a:rPr>
              <a:t>Outcomes of the experiments they choose</a:t>
            </a:r>
            <a:endParaRPr lang="en-US" sz="1800" dirty="0"/>
          </a:p>
        </p:txBody>
      </p:sp>
      <p:sp>
        <p:nvSpPr>
          <p:cNvPr id="16" name="Ask card"/>
          <p:cNvSpPr/>
          <p:nvPr/>
        </p:nvSpPr>
        <p:spPr>
          <a:xfrm>
            <a:off x="6583680" y="4937760"/>
            <a:ext cx="4983480" cy="1143000"/>
          </a:xfrm>
          <a:prstGeom prst="roundRect">
            <a:avLst>
              <a:gd name="adj" fmla="val 12000"/>
            </a:avLst>
          </a:prstGeom>
          <a:solidFill>
            <a:schemeClr val="accent1"/>
          </a:solidFill>
          <a:ln/>
        </p:spPr>
      </p:sp>
      <p:sp>
        <p:nvSpPr>
          <p:cNvPr id="17" name="Text 15"/>
          <p:cNvSpPr txBox="1"/>
          <p:nvPr/>
        </p:nvSpPr>
        <p:spPr>
          <a:xfrm>
            <a:off x="6858000" y="4983480"/>
            <a:ext cx="4480560" cy="1051560"/>
          </a:xfrm>
          <a:prstGeom prst="rect">
            <a:avLst/>
          </a:prstGeom>
          <a:noFill/>
          <a:ln/>
        </p:spPr>
        <p:txBody>
          <a:bodyPr wrap="square" lIns="0" tIns="0" rIns="0" bIns="0" rtlCol="0" anchor="ctr"/>
          <a:lstStyle/>
          <a:p>
            <a:pPr indent="0" marL="0">
              <a:buNone/>
            </a:pPr>
            <a:r>
              <a:rPr lang="en-US" sz="1700" b="1" dirty="0">
                <a:solidFill>
                  <a:schemeClr val="tx1"/>
                </a:solidFill>
              </a:rPr>
              <a:t>We're looking for Seattle food-business owners to help shape crumbs.</a:t>
            </a:r>
            <a:endParaRPr lang="en-US" sz="1700" dirty="0"/>
          </a:p>
          <a:p>
            <a:pPr indent="0" marL="0">
              <a:buNone/>
            </a:pPr>
            <a:r>
              <a:rPr lang="en-US" sz="1300" dirty="0">
                <a:solidFill>
                  <a:schemeClr val="tx1"/>
                </a:solidFill>
              </a:rPr>
              <a:t>Proposed: a monthly subscription per location (price not set).</a:t>
            </a:r>
            <a:endParaRPr lang="en-US" sz="17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1188720"/>
          </a:xfrm>
          <a:prstGeom prst="rect">
            <a:avLst/>
          </a:prstGeom>
          <a:noFill/>
          <a:ln/>
        </p:spPr>
        <p:txBody>
          <a:bodyPr wrap="square" lIns="0" tIns="0" rIns="0" bIns="0" rtlCol="0" anchor="ctr"/>
          <a:lstStyle/>
          <a:p>
            <a:pPr algn="l" indent="0" marL="0">
              <a:buNone/>
            </a:pPr>
            <a:r>
              <a:rPr lang="en-US" sz="6600" b="1" dirty="0">
                <a:solidFill>
                  <a:schemeClr val="accent2"/>
                </a:solidFill>
              </a:rPr>
              <a:t>Thank you</a:t>
            </a:r>
            <a:endParaRPr lang="en-US" sz="6600" dirty="0"/>
          </a:p>
        </p:txBody>
      </p:sp>
      <p:sp>
        <p:nvSpPr>
          <p:cNvPr id="3" name="Text 0"/>
          <p:cNvSpPr/>
          <p:nvPr>
            <p:ph idx="101" type="body" hasCustomPrompt="1"/>
          </p:nvPr>
        </p:nvSpPr>
        <p:spPr>
          <a:xfrm>
            <a:off x="777240" y="1737360"/>
            <a:ext cx="10515600" cy="548640"/>
          </a:xfrm>
          <a:prstGeom prst="rect">
            <a:avLst/>
          </a:prstGeom>
          <a:noFill/>
          <a:ln/>
        </p:spPr>
        <p:txBody>
          <a:bodyPr wrap="square" lIns="0" tIns="0" rIns="0" bIns="0" rtlCol="0" anchor="t"/>
          <a:lstStyle/>
          <a:p>
            <a:pPr indent="0" marL="0">
              <a:buNone/>
            </a:pPr>
            <a:r>
              <a:rPr lang="en-US" sz="2200" dirty="0">
                <a:solidFill>
                  <a:schemeClr val="bg1"/>
                </a:solidFill>
              </a:rPr>
              <a:t>crumbs is open source: github.com/RuthGajj05/crumbs</a:t>
            </a:r>
            <a:endParaRPr lang="en-US" sz="2200" dirty="0"/>
          </a:p>
        </p:txBody>
      </p:sp>
      <p:sp>
        <p:nvSpPr>
          <p:cNvPr id="4" name="Team card Jagger"/>
          <p:cNvSpPr/>
          <p:nvPr/>
        </p:nvSpPr>
        <p:spPr>
          <a:xfrm>
            <a:off x="731520" y="2514600"/>
            <a:ext cx="2011680" cy="2971800"/>
          </a:xfrm>
          <a:prstGeom prst="roundRect">
            <a:avLst>
              <a:gd name="adj" fmla="val 8182"/>
            </a:avLst>
          </a:prstGeom>
          <a:solidFill>
            <a:schemeClr val="tx2"/>
          </a:solidFill>
          <a:ln/>
        </p:spPr>
      </p:sp>
      <p:sp>
        <p:nvSpPr>
          <p:cNvPr id="5" name="Avatar Jagger"/>
          <p:cNvSpPr txBox="1"/>
          <p:nvPr/>
        </p:nvSpPr>
        <p:spPr>
          <a:xfrm>
            <a:off x="960120" y="2743200"/>
            <a:ext cx="731520" cy="731520"/>
          </a:xfrm>
          <a:prstGeom prst="ellipse">
            <a:avLst/>
          </a:prstGeom>
          <a:solidFill>
            <a:schemeClr val="accent1"/>
          </a:solid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J</a:t>
            </a:r>
            <a:endParaRPr lang="en-US" sz="2800" dirty="0"/>
          </a:p>
        </p:txBody>
      </p:sp>
      <p:sp>
        <p:nvSpPr>
          <p:cNvPr id="6" name="Text 4"/>
          <p:cNvSpPr txBox="1"/>
          <p:nvPr/>
        </p:nvSpPr>
        <p:spPr>
          <a:xfrm>
            <a:off x="960120" y="3611880"/>
            <a:ext cx="1645920" cy="411480"/>
          </a:xfrm>
          <a:prstGeom prst="rect">
            <a:avLst/>
          </a:prstGeom>
          <a:noFill/>
          <a:ln/>
        </p:spPr>
        <p:txBody>
          <a:bodyPr wrap="square" lIns="0" tIns="0" rIns="0" bIns="0" rtlCol="0" anchor="ctr"/>
          <a:lstStyle/>
          <a:p>
            <a:pPr indent="0" marL="0">
              <a:buNone/>
            </a:pPr>
            <a:r>
              <a:rPr lang="en-US" sz="2200" b="1" dirty="0">
                <a:solidFill>
                  <a:schemeClr val="bg1"/>
                </a:solidFill>
              </a:rPr>
              <a:t>Jagger</a:t>
            </a:r>
            <a:endParaRPr lang="en-US" sz="2200" dirty="0"/>
          </a:p>
        </p:txBody>
      </p:sp>
      <p:sp>
        <p:nvSpPr>
          <p:cNvPr id="7" name="Text 5"/>
          <p:cNvSpPr txBox="1"/>
          <p:nvPr/>
        </p:nvSpPr>
        <p:spPr>
          <a:xfrm>
            <a:off x="960120" y="4069080"/>
            <a:ext cx="1600200" cy="1325880"/>
          </a:xfrm>
          <a:prstGeom prst="rect">
            <a:avLst/>
          </a:prstGeom>
          <a:noFill/>
          <a:ln/>
        </p:spPr>
        <p:txBody>
          <a:bodyPr wrap="square" lIns="0" tIns="0" rIns="0" bIns="0" rtlCol="0" anchor="t"/>
          <a:lstStyle/>
          <a:p>
            <a:pPr indent="0" marL="0">
              <a:buNone/>
            </a:pPr>
            <a:r>
              <a:rPr lang="en-US" sz="1400" dirty="0">
                <a:solidFill>
                  <a:schemeClr val="accent6"/>
                </a:solidFill>
              </a:rPr>
              <a:t>Front-end development, testing</a:t>
            </a:r>
            <a:endParaRPr lang="en-US" sz="1400" dirty="0"/>
          </a:p>
        </p:txBody>
      </p:sp>
      <p:sp>
        <p:nvSpPr>
          <p:cNvPr id="8" name="Team card Neha"/>
          <p:cNvSpPr/>
          <p:nvPr/>
        </p:nvSpPr>
        <p:spPr>
          <a:xfrm>
            <a:off x="2916936" y="2514600"/>
            <a:ext cx="2011680" cy="2971800"/>
          </a:xfrm>
          <a:prstGeom prst="roundRect">
            <a:avLst>
              <a:gd name="adj" fmla="val 8182"/>
            </a:avLst>
          </a:prstGeom>
          <a:solidFill>
            <a:schemeClr val="tx2"/>
          </a:solidFill>
          <a:ln/>
        </p:spPr>
      </p:sp>
      <p:sp>
        <p:nvSpPr>
          <p:cNvPr id="9" name="Avatar Neha"/>
          <p:cNvSpPr txBox="1"/>
          <p:nvPr/>
        </p:nvSpPr>
        <p:spPr>
          <a:xfrm>
            <a:off x="3145536" y="2743200"/>
            <a:ext cx="731520" cy="731520"/>
          </a:xfrm>
          <a:prstGeom prst="ellipse">
            <a:avLst/>
          </a:prstGeom>
          <a:solidFill>
            <a:schemeClr val="accent1"/>
          </a:solid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N</a:t>
            </a:r>
            <a:endParaRPr lang="en-US" sz="2800" dirty="0"/>
          </a:p>
        </p:txBody>
      </p:sp>
      <p:sp>
        <p:nvSpPr>
          <p:cNvPr id="10" name="Text 8"/>
          <p:cNvSpPr txBox="1"/>
          <p:nvPr/>
        </p:nvSpPr>
        <p:spPr>
          <a:xfrm>
            <a:off x="3145536" y="3611880"/>
            <a:ext cx="1645920" cy="411480"/>
          </a:xfrm>
          <a:prstGeom prst="rect">
            <a:avLst/>
          </a:prstGeom>
          <a:noFill/>
          <a:ln/>
        </p:spPr>
        <p:txBody>
          <a:bodyPr wrap="square" lIns="0" tIns="0" rIns="0" bIns="0" rtlCol="0" anchor="ctr"/>
          <a:lstStyle/>
          <a:p>
            <a:pPr indent="0" marL="0">
              <a:buNone/>
            </a:pPr>
            <a:r>
              <a:rPr lang="en-US" sz="2200" b="1" dirty="0">
                <a:solidFill>
                  <a:schemeClr val="bg1"/>
                </a:solidFill>
              </a:rPr>
              <a:t>Neha</a:t>
            </a:r>
            <a:endParaRPr lang="en-US" sz="2200" dirty="0"/>
          </a:p>
        </p:txBody>
      </p:sp>
      <p:sp>
        <p:nvSpPr>
          <p:cNvPr id="11" name="Text 9"/>
          <p:cNvSpPr txBox="1"/>
          <p:nvPr/>
        </p:nvSpPr>
        <p:spPr>
          <a:xfrm>
            <a:off x="3145536" y="4069080"/>
            <a:ext cx="1600200" cy="1325880"/>
          </a:xfrm>
          <a:prstGeom prst="rect">
            <a:avLst/>
          </a:prstGeom>
          <a:noFill/>
          <a:ln/>
        </p:spPr>
        <p:txBody>
          <a:bodyPr wrap="square" lIns="0" tIns="0" rIns="0" bIns="0" rtlCol="0" anchor="t"/>
          <a:lstStyle/>
          <a:p>
            <a:pPr indent="0" marL="0">
              <a:buNone/>
            </a:pPr>
            <a:r>
              <a:rPr lang="en-US" sz="1400" dirty="0">
                <a:solidFill>
                  <a:schemeClr val="accent6"/>
                </a:solidFill>
              </a:rPr>
              <a:t>API integration, web scraping, report emails, pitch deck, testing</a:t>
            </a:r>
            <a:endParaRPr lang="en-US" sz="1400" dirty="0"/>
          </a:p>
        </p:txBody>
      </p:sp>
      <p:sp>
        <p:nvSpPr>
          <p:cNvPr id="12" name="Team card Ruthwika"/>
          <p:cNvSpPr/>
          <p:nvPr/>
        </p:nvSpPr>
        <p:spPr>
          <a:xfrm>
            <a:off x="5102352" y="2514600"/>
            <a:ext cx="2011680" cy="2971800"/>
          </a:xfrm>
          <a:prstGeom prst="roundRect">
            <a:avLst>
              <a:gd name="adj" fmla="val 8182"/>
            </a:avLst>
          </a:prstGeom>
          <a:solidFill>
            <a:schemeClr val="tx2"/>
          </a:solidFill>
          <a:ln/>
        </p:spPr>
      </p:sp>
      <p:sp>
        <p:nvSpPr>
          <p:cNvPr id="13" name="Avatar Ruthwika"/>
          <p:cNvSpPr txBox="1"/>
          <p:nvPr/>
        </p:nvSpPr>
        <p:spPr>
          <a:xfrm>
            <a:off x="5330952" y="2743200"/>
            <a:ext cx="731520" cy="731520"/>
          </a:xfrm>
          <a:prstGeom prst="ellipse">
            <a:avLst/>
          </a:prstGeom>
          <a:solidFill>
            <a:schemeClr val="accent1"/>
          </a:solid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R</a:t>
            </a:r>
            <a:endParaRPr lang="en-US" sz="2800" dirty="0"/>
          </a:p>
        </p:txBody>
      </p:sp>
      <p:sp>
        <p:nvSpPr>
          <p:cNvPr id="14" name="Text 12"/>
          <p:cNvSpPr txBox="1"/>
          <p:nvPr/>
        </p:nvSpPr>
        <p:spPr>
          <a:xfrm>
            <a:off x="5330952" y="3611880"/>
            <a:ext cx="1645920" cy="411480"/>
          </a:xfrm>
          <a:prstGeom prst="rect">
            <a:avLst/>
          </a:prstGeom>
          <a:noFill/>
          <a:ln/>
        </p:spPr>
        <p:txBody>
          <a:bodyPr wrap="square" lIns="0" tIns="0" rIns="0" bIns="0" rtlCol="0" anchor="ctr"/>
          <a:lstStyle/>
          <a:p>
            <a:pPr indent="0" marL="0">
              <a:buNone/>
            </a:pPr>
            <a:r>
              <a:rPr lang="en-US" sz="2200" b="1" dirty="0">
                <a:solidFill>
                  <a:schemeClr val="bg1"/>
                </a:solidFill>
              </a:rPr>
              <a:t>Ruthwika</a:t>
            </a:r>
            <a:endParaRPr lang="en-US" sz="2200" dirty="0"/>
          </a:p>
        </p:txBody>
      </p:sp>
      <p:sp>
        <p:nvSpPr>
          <p:cNvPr id="15" name="Text 13"/>
          <p:cNvSpPr txBox="1"/>
          <p:nvPr/>
        </p:nvSpPr>
        <p:spPr>
          <a:xfrm>
            <a:off x="5330952" y="4069080"/>
            <a:ext cx="1600200" cy="1325880"/>
          </a:xfrm>
          <a:prstGeom prst="rect">
            <a:avLst/>
          </a:prstGeom>
          <a:noFill/>
          <a:ln/>
        </p:spPr>
        <p:txBody>
          <a:bodyPr wrap="square" lIns="0" tIns="0" rIns="0" bIns="0" rtlCol="0" anchor="t"/>
          <a:lstStyle/>
          <a:p>
            <a:pPr indent="0" marL="0">
              <a:buNone/>
            </a:pPr>
            <a:r>
              <a:rPr lang="en-US" sz="1400" dirty="0">
                <a:solidFill>
                  <a:schemeClr val="accent6"/>
                </a:solidFill>
              </a:rPr>
              <a:t>Web scraping, connecting front-end and backend, testing</a:t>
            </a:r>
            <a:endParaRPr lang="en-US" sz="1400" dirty="0"/>
          </a:p>
        </p:txBody>
      </p:sp>
      <p:sp>
        <p:nvSpPr>
          <p:cNvPr id="16" name="Team card Boong"/>
          <p:cNvSpPr/>
          <p:nvPr/>
        </p:nvSpPr>
        <p:spPr>
          <a:xfrm>
            <a:off x="7287768" y="2514600"/>
            <a:ext cx="2011680" cy="2971800"/>
          </a:xfrm>
          <a:prstGeom prst="roundRect">
            <a:avLst>
              <a:gd name="adj" fmla="val 8182"/>
            </a:avLst>
          </a:prstGeom>
          <a:solidFill>
            <a:schemeClr val="tx2"/>
          </a:solidFill>
          <a:ln/>
        </p:spPr>
      </p:sp>
      <p:sp>
        <p:nvSpPr>
          <p:cNvPr id="17" name="Avatar Boong"/>
          <p:cNvSpPr txBox="1"/>
          <p:nvPr/>
        </p:nvSpPr>
        <p:spPr>
          <a:xfrm>
            <a:off x="7516368" y="2743200"/>
            <a:ext cx="731520" cy="731520"/>
          </a:xfrm>
          <a:prstGeom prst="ellipse">
            <a:avLst/>
          </a:prstGeom>
          <a:solidFill>
            <a:schemeClr val="accent1"/>
          </a:solid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B</a:t>
            </a:r>
            <a:endParaRPr lang="en-US" sz="2800" dirty="0"/>
          </a:p>
        </p:txBody>
      </p:sp>
      <p:sp>
        <p:nvSpPr>
          <p:cNvPr id="18" name="Text 16"/>
          <p:cNvSpPr txBox="1"/>
          <p:nvPr/>
        </p:nvSpPr>
        <p:spPr>
          <a:xfrm>
            <a:off x="7516368" y="3611880"/>
            <a:ext cx="1645920" cy="411480"/>
          </a:xfrm>
          <a:prstGeom prst="rect">
            <a:avLst/>
          </a:prstGeom>
          <a:noFill/>
          <a:ln/>
        </p:spPr>
        <p:txBody>
          <a:bodyPr wrap="square" lIns="0" tIns="0" rIns="0" bIns="0" rtlCol="0" anchor="ctr"/>
          <a:lstStyle/>
          <a:p>
            <a:pPr indent="0" marL="0">
              <a:buNone/>
            </a:pPr>
            <a:r>
              <a:rPr lang="en-US" sz="2200" b="1" dirty="0">
                <a:solidFill>
                  <a:schemeClr val="bg1"/>
                </a:solidFill>
              </a:rPr>
              <a:t>Boong</a:t>
            </a:r>
            <a:endParaRPr lang="en-US" sz="2200" dirty="0"/>
          </a:p>
        </p:txBody>
      </p:sp>
      <p:sp>
        <p:nvSpPr>
          <p:cNvPr id="19" name="Text 17"/>
          <p:cNvSpPr txBox="1"/>
          <p:nvPr/>
        </p:nvSpPr>
        <p:spPr>
          <a:xfrm>
            <a:off x="7516368" y="4069080"/>
            <a:ext cx="1600200" cy="1325880"/>
          </a:xfrm>
          <a:prstGeom prst="rect">
            <a:avLst/>
          </a:prstGeom>
          <a:noFill/>
          <a:ln/>
        </p:spPr>
        <p:txBody>
          <a:bodyPr wrap="square" lIns="0" tIns="0" rIns="0" bIns="0" rtlCol="0" anchor="t"/>
          <a:lstStyle/>
          <a:p>
            <a:pPr indent="0" marL="0">
              <a:buNone/>
            </a:pPr>
            <a:r>
              <a:rPr lang="en-US" sz="1400" dirty="0">
                <a:solidFill>
                  <a:schemeClr val="accent6"/>
                </a:solidFill>
              </a:rPr>
              <a:t>Web scraping, pitch deck, business solutions, testing</a:t>
            </a:r>
            <a:endParaRPr lang="en-US" sz="1400" dirty="0"/>
          </a:p>
        </p:txBody>
      </p:sp>
      <p:sp>
        <p:nvSpPr>
          <p:cNvPr id="20" name="Team card Manny"/>
          <p:cNvSpPr/>
          <p:nvPr/>
        </p:nvSpPr>
        <p:spPr>
          <a:xfrm>
            <a:off x="9473184" y="2514600"/>
            <a:ext cx="2011680" cy="2971800"/>
          </a:xfrm>
          <a:prstGeom prst="roundRect">
            <a:avLst>
              <a:gd name="adj" fmla="val 8182"/>
            </a:avLst>
          </a:prstGeom>
          <a:solidFill>
            <a:schemeClr val="tx2"/>
          </a:solidFill>
          <a:ln/>
        </p:spPr>
      </p:sp>
      <p:sp>
        <p:nvSpPr>
          <p:cNvPr id="21" name="Avatar Manny"/>
          <p:cNvSpPr txBox="1"/>
          <p:nvPr/>
        </p:nvSpPr>
        <p:spPr>
          <a:xfrm>
            <a:off x="9701784" y="2743200"/>
            <a:ext cx="731520" cy="731520"/>
          </a:xfrm>
          <a:prstGeom prst="ellipse">
            <a:avLst/>
          </a:prstGeom>
          <a:solidFill>
            <a:schemeClr val="accent1"/>
          </a:solidFill>
          <a:ln/>
        </p:spPr>
        <p:txBody>
          <a:bodyPr wrap="square" lIns="0" tIns="0" rIns="0" bIns="0" rtlCol="0" anchor="ctr"/>
          <a:lstStyle/>
          <a:p>
            <a:pPr algn="ctr" indent="0" marL="0">
              <a:buNone/>
            </a:pPr>
            <a:r>
              <a:rPr lang="en-US" sz="2800" b="1" dirty="0">
                <a:solidFill>
                  <a:schemeClr val="tx1"/>
                </a:solidFill>
                <a:latin typeface="+mj-lt" pitchFamily="34" charset="0"/>
                <a:ea typeface="+mj-lt" pitchFamily="34" charset="-122"/>
                <a:cs typeface="+mj-lt" pitchFamily="34" charset="-120"/>
              </a:rPr>
              <a:t>M</a:t>
            </a:r>
            <a:endParaRPr lang="en-US" sz="2800" dirty="0"/>
          </a:p>
        </p:txBody>
      </p:sp>
      <p:sp>
        <p:nvSpPr>
          <p:cNvPr id="22" name="Text 20"/>
          <p:cNvSpPr txBox="1"/>
          <p:nvPr/>
        </p:nvSpPr>
        <p:spPr>
          <a:xfrm>
            <a:off x="9701784" y="3611880"/>
            <a:ext cx="1645920" cy="411480"/>
          </a:xfrm>
          <a:prstGeom prst="rect">
            <a:avLst/>
          </a:prstGeom>
          <a:noFill/>
          <a:ln/>
        </p:spPr>
        <p:txBody>
          <a:bodyPr wrap="square" lIns="0" tIns="0" rIns="0" bIns="0" rtlCol="0" anchor="ctr"/>
          <a:lstStyle/>
          <a:p>
            <a:pPr indent="0" marL="0">
              <a:buNone/>
            </a:pPr>
            <a:r>
              <a:rPr lang="en-US" sz="2200" b="1" dirty="0">
                <a:solidFill>
                  <a:schemeClr val="bg1"/>
                </a:solidFill>
              </a:rPr>
              <a:t>Manny</a:t>
            </a:r>
            <a:endParaRPr lang="en-US" sz="2200" dirty="0"/>
          </a:p>
        </p:txBody>
      </p:sp>
      <p:sp>
        <p:nvSpPr>
          <p:cNvPr id="23" name="Text 21"/>
          <p:cNvSpPr txBox="1"/>
          <p:nvPr/>
        </p:nvSpPr>
        <p:spPr>
          <a:xfrm>
            <a:off x="9701784" y="4069080"/>
            <a:ext cx="1600200" cy="1325880"/>
          </a:xfrm>
          <a:prstGeom prst="rect">
            <a:avLst/>
          </a:prstGeom>
          <a:noFill/>
          <a:ln/>
        </p:spPr>
        <p:txBody>
          <a:bodyPr wrap="square" lIns="0" tIns="0" rIns="0" bIns="0" rtlCol="0" anchor="t"/>
          <a:lstStyle/>
          <a:p>
            <a:pPr indent="0" marL="0">
              <a:buNone/>
            </a:pPr>
            <a:r>
              <a:rPr lang="en-US" sz="1400" dirty="0">
                <a:solidFill>
                  <a:schemeClr val="accent6"/>
                </a:solidFill>
              </a:rPr>
              <a:t>Back-end and scaffolding, testing</a:t>
            </a:r>
            <a:endParaRPr lang="en-US" sz="1400" dirty="0"/>
          </a:p>
        </p:txBody>
      </p:sp>
      <p:sp>
        <p:nvSpPr>
          <p:cNvPr id="24" name="Text 22"/>
          <p:cNvSpPr txBox="1"/>
          <p:nvPr/>
        </p:nvSpPr>
        <p:spPr>
          <a:xfrm>
            <a:off x="731520" y="5669280"/>
            <a:ext cx="10698480" cy="640080"/>
          </a:xfrm>
          <a:prstGeom prst="rect">
            <a:avLst/>
          </a:prstGeom>
          <a:noFill/>
          <a:ln/>
        </p:spPr>
        <p:txBody>
          <a:bodyPr wrap="square" lIns="0" tIns="0" rIns="0" bIns="0" rtlCol="0" anchor="ctr"/>
          <a:lstStyle/>
          <a:p>
            <a:pPr indent="0" marL="0">
              <a:buNone/>
            </a:pPr>
            <a:r>
              <a:rPr lang="en-US" sz="2800" i="1" dirty="0">
                <a:solidFill>
                  <a:schemeClr val="bg1"/>
                </a:solidFill>
                <a:latin typeface="+mj-lt" pitchFamily="34" charset="0"/>
                <a:ea typeface="+mj-lt" pitchFamily="34" charset="-122"/>
                <a:cs typeface="+mj-lt" pitchFamily="34" charset="-120"/>
              </a:rPr>
              <a:t>Every review leaves crumbs.</a:t>
            </a:r>
            <a:endParaRPr lang="en-US" sz="2800" dirty="0"/>
          </a:p>
        </p:txBody>
      </p:sp>
      <p:sp>
        <p:nvSpPr>
          <p:cNvPr id="25" name="Crumb 1"/>
          <p:cNvSpPr/>
          <p:nvPr/>
        </p:nvSpPr>
        <p:spPr>
          <a:xfrm>
            <a:off x="10241280" y="685800"/>
            <a:ext cx="182880" cy="182880"/>
          </a:xfrm>
          <a:prstGeom prst="ellipse">
            <a:avLst/>
          </a:prstGeom>
          <a:solidFill>
            <a:schemeClr val="accent1">
              <a:alpha val="70000"/>
            </a:schemeClr>
          </a:solidFill>
          <a:ln/>
        </p:spPr>
      </p:sp>
      <p:sp>
        <p:nvSpPr>
          <p:cNvPr id="26" name="Crumb 2"/>
          <p:cNvSpPr/>
          <p:nvPr/>
        </p:nvSpPr>
        <p:spPr>
          <a:xfrm>
            <a:off x="10698480" y="1051560"/>
            <a:ext cx="109728" cy="109728"/>
          </a:xfrm>
          <a:prstGeom prst="ellipse">
            <a:avLst/>
          </a:prstGeom>
          <a:solidFill>
            <a:schemeClr val="accent1">
              <a:alpha val="45000"/>
            </a:schemeClr>
          </a:solidFill>
          <a:ln/>
        </p:spPr>
      </p:sp>
      <p:sp>
        <p:nvSpPr>
          <p:cNvPr id="27" name="Crumb 3"/>
          <p:cNvSpPr/>
          <p:nvPr/>
        </p:nvSpPr>
        <p:spPr>
          <a:xfrm>
            <a:off x="11155680" y="640080"/>
            <a:ext cx="146304" cy="146304"/>
          </a:xfrm>
          <a:prstGeom prst="ellipse">
            <a:avLst/>
          </a:prstGeom>
          <a:solidFill>
            <a:schemeClr val="accent1">
              <a:alpha val="60000"/>
            </a:schemeClr>
          </a:solidFill>
          <a:ln/>
        </p:spPr>
      </p:sp>
      <p:sp>
        <p:nvSpPr>
          <p:cNvPr id="28" name="Crumb 4"/>
          <p:cNvSpPr/>
          <p:nvPr/>
        </p:nvSpPr>
        <p:spPr>
          <a:xfrm>
            <a:off x="11475720" y="1097280"/>
            <a:ext cx="91440" cy="91440"/>
          </a:xfrm>
          <a:prstGeom prst="ellipse">
            <a:avLst/>
          </a:prstGeom>
          <a:solidFill>
            <a:schemeClr val="accent1">
              <a:alpha val="40000"/>
            </a:schemeClr>
          </a:solidFill>
          <a:ln/>
        </p:spPr>
      </p:sp>
    </p:spTree>
  </p:cSld>
  <p:clrMapOvr>
    <a:masterClrMapping/>
  </p:clrMapOvr>
</p:sld>
</file>

<file path=ppt/theme/theme1.xml><?xml version="1.0" encoding="utf-8"?>
<a:theme xmlns:a="http://schemas.openxmlformats.org/drawingml/2006/main" name="crumbs">
  <a:themeElements>
    <a:clrScheme name="crumbs">
      <a:dk1>
        <a:srgbClr val="111111"/>
      </a:dk1>
      <a:lt1>
        <a:srgbClr val="FFF8E7"/>
      </a:lt1>
      <a:dk2>
        <a:srgbClr val="1E1B16"/>
      </a:dk2>
      <a:lt2>
        <a:srgbClr val="FBEFC9"/>
      </a:lt2>
      <a:accent1>
        <a:srgbClr val="E5A83A"/>
      </a:accent1>
      <a:accent2>
        <a:srgbClr val="F7DC8F"/>
      </a:accent2>
      <a:accent3>
        <a:srgbClr val="4FB286"/>
      </a:accent3>
      <a:accent4>
        <a:srgbClr val="E8603C"/>
      </a:accent4>
      <a:accent5>
        <a:srgbClr val="7A7262"/>
      </a:accent5>
      <a:accent6>
        <a:srgbClr val="B9A98A"/>
      </a:accent6>
      <a:hlink>
        <a:srgbClr val="E5A83A"/>
      </a:hlink>
      <a:folHlink>
        <a:srgbClr val="B9A98A"/>
      </a:folHlink>
    </a:clrScheme>
    <a:fontScheme name="crumb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Claude Impact Lab, Seattle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crumbs: AI for neighborhood food shops</dc:title>
  <dc:subject>PptxGenJS Presentation</dc:subject>
  <dc:creator>The crumbs team</dc:creator>
  <cp:lastModifiedBy>The crumbs team</cp:lastModifiedBy>
  <cp:revision>1</cp:revision>
  <dcterms:created xsi:type="dcterms:W3CDTF">2026-10-26T00:08:56Z</dcterms:created>
  <dcterms:modified xsi:type="dcterms:W3CDTF">2026-10-26T00:08:56Z</dcterms:modified>
</cp:coreProperties>
</file>